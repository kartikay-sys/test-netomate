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457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8FAFC"/>
                </a:solidFill>
              </a:defRPr>
            </a:pPr>
            <a:r>
              <a:t>NetoMate AI Architecture</a:t>
            </a:r>
          </a:p>
          <a:p>
            <a:pPr algn="ctr">
              <a:defRPr sz="2400">
                <a:solidFill>
                  <a:srgbClr val="94A3B8"/>
                </a:solidFill>
              </a:defRPr>
            </a:pPr>
            <a:r>
              <a:t>Cost Analysis &amp; Optimal LLM Selection for Telecom Test Flow Orchestration</a:t>
            </a:r>
          </a:p>
          <a:p>
            <a:br/>
            <a:r>
              <a:t>Baseline Context: 4,121 In | 994 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4000" b="1">
                <a:solidFill>
                  <a:srgbClr val="F8FAFC"/>
                </a:solidFill>
              </a:defRPr>
            </a:pPr>
            <a:r>
              <a:t>Google Gemini Models</a:t>
            </a:r>
          </a:p>
          <a:p>
            <a:pPr algn="l">
              <a:defRPr sz="2000">
                <a:solidFill>
                  <a:srgbClr val="94A3B8"/>
                </a:solidFill>
              </a:defRPr>
            </a:pPr>
            <a:r>
              <a:t>Monthly 30-Day Projections (USD)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4747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4D399"/>
                </a:solidFill>
              </a:defRPr>
            </a:pPr>
            <a:r>
              <a:t>Gemini 2.5 Flash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Cost/1M Tok: In: $0.0012 | Out: $0.0025</a:t>
            </a:r>
          </a:p>
          <a:p>
            <a:br/>
            <a:r>
              <a:t>Bulk Requests: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1k requests: $3.72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10k requests: $37.21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100k requests: $372.07</a:t>
            </a:r>
          </a:p>
          <a:p>
            <a:br/>
            <a:r>
              <a:t>Monthly Projections (30d):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200/day: $22.32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1k/day: $111.62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5k/day: $558.11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28800"/>
            <a:ext cx="34747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34840" y="192024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Gemini 3 Flash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Cost/1M Tok: In: $0.0021 | Out: $0.0030</a:t>
            </a:r>
          </a:p>
          <a:p>
            <a:br/>
            <a:r>
              <a:t>Bulk Requests: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1k requests: $5.04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10k requests: $50.42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100k requests: $504.18</a:t>
            </a:r>
          </a:p>
          <a:p>
            <a:br/>
            <a:r>
              <a:t>Monthly Projections (30d):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200/day: $30.25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1k/day: $151.25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5k/day: $756.27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828800"/>
            <a:ext cx="34747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0" y="192024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78BFA"/>
                </a:solidFill>
              </a:defRPr>
            </a:pPr>
            <a:r>
              <a:t>Gemini 3 Pro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Cost/1M Tok: In: $0.0082 | Out: $0.0119</a:t>
            </a:r>
          </a:p>
          <a:p>
            <a:br/>
            <a:r>
              <a:t>Bulk Requests: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1k requests: $20.17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10k requests: $201.67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100k requests: $2,016.71</a:t>
            </a:r>
          </a:p>
          <a:p>
            <a:br/>
            <a:r>
              <a:t>Monthly Projections (30d):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200/day: $121.00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1k/day: $605.01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5k/day: $3,025.07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4000" b="1">
                <a:solidFill>
                  <a:srgbClr val="F8FAFC"/>
                </a:solidFill>
              </a:defRPr>
            </a:pPr>
            <a:r>
              <a:t>OpenAI Models</a:t>
            </a:r>
          </a:p>
          <a:p>
            <a:pPr algn="l">
              <a:defRPr sz="2000">
                <a:solidFill>
                  <a:srgbClr val="94A3B8"/>
                </a:solidFill>
              </a:defRPr>
            </a:pPr>
            <a:r>
              <a:t>Highlighting Cost Efficiency at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474720" cy="411480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32918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4D399"/>
                </a:solidFill>
              </a:defRPr>
            </a:pPr>
            <a:r>
              <a:t>GPT-4o Mini 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rPr dirty="0"/>
              <a:t>Cost/1M Tok: In: $0.0006 | Out: $0.0006</a:t>
            </a:r>
          </a:p>
          <a:p>
            <a:br>
              <a:rPr dirty="0"/>
            </a:br>
            <a:r>
              <a:rPr dirty="0"/>
              <a:t>Bulk Requests: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rPr dirty="0"/>
              <a:t>• 1k requests: $1.21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rPr dirty="0"/>
              <a:t>• 10k requests: $12.15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rPr dirty="0"/>
              <a:t>• 100k requests: $121.45</a:t>
            </a:r>
          </a:p>
          <a:p>
            <a:br>
              <a:rPr dirty="0"/>
            </a:br>
            <a:r>
              <a:rPr dirty="0"/>
              <a:t>Monthly Projections (30d):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rPr dirty="0"/>
              <a:t>• 200/day: $7.29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rPr dirty="0"/>
              <a:t>• 1k/day: $36.44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rPr dirty="0"/>
              <a:t>• 5k/day: $182.18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28800"/>
            <a:ext cx="34747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34840" y="192024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GPT-5.4 Mini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Cost/1M Tok: In: $0.0031 | Out: $0.0045</a:t>
            </a:r>
          </a:p>
          <a:p>
            <a:br/>
            <a:r>
              <a:t>Bulk Requests: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1k requests: $7.56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10k requests: $75.64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100k requests: $756.38</a:t>
            </a:r>
          </a:p>
          <a:p>
            <a:br/>
            <a:r>
              <a:t>Monthly Projections (30d):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200/day: $45.38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1k/day: $226.91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5k/day: $1,134.56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828800"/>
            <a:ext cx="34747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0" y="192024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78BFA"/>
                </a:solidFill>
              </a:defRPr>
            </a:pPr>
            <a:r>
              <a:t>GPT-5.4 (Flagship)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Cost/1M Tok: In: $0.0103 | Out: $0.0149</a:t>
            </a:r>
          </a:p>
          <a:p>
            <a:br/>
            <a:r>
              <a:t>Bulk Requests: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1k requests: $25.21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10k requests: $252.12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100k requests: $2,521.25</a:t>
            </a:r>
          </a:p>
          <a:p>
            <a:br/>
            <a:r>
              <a:t>Monthly Projections (30d):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200/day: $151.27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1k/day: $756.38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5k/day: $3,781.88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4000" b="1">
                <a:solidFill>
                  <a:srgbClr val="F8FAFC"/>
                </a:solidFill>
              </a:defRPr>
            </a:pPr>
            <a:r>
              <a:t>Anthropic Next-Gen Models</a:t>
            </a:r>
          </a:p>
          <a:p>
            <a:pPr algn="l">
              <a:defRPr sz="2000">
                <a:solidFill>
                  <a:srgbClr val="94A3B8"/>
                </a:solidFill>
              </a:defRPr>
            </a:pPr>
            <a:r>
              <a:t>Monthly 30-Day Projections (USD)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4747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4D399"/>
                </a:solidFill>
              </a:defRPr>
            </a:pPr>
            <a:r>
              <a:t>Haiku 4.5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Cost/1M Tok: In: $0.0041 | Out: $0.0050</a:t>
            </a:r>
          </a:p>
          <a:p>
            <a:br/>
            <a:r>
              <a:t>Bulk Requests: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1k requests: $9.09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10k requests: $90.91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100k requests: $909.10</a:t>
            </a:r>
          </a:p>
          <a:p>
            <a:br/>
            <a:r>
              <a:t>Monthly Projections (30d):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200/day: $54.55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1k/day: $272.73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5k/day: $1,363.65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28800"/>
            <a:ext cx="34747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34840" y="192024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Sonnet 4.6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Cost/1M Tok: In: $0.0124 | Out: $0.0149</a:t>
            </a:r>
          </a:p>
          <a:p>
            <a:br/>
            <a:r>
              <a:t>Bulk Requests: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1k requests: $27.27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10k requests: $272.73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100k requests: $2,727.30</a:t>
            </a:r>
          </a:p>
          <a:p>
            <a:br/>
            <a:r>
              <a:t>Monthly Projections (30d):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200/day: $163.64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1k/day: $818.19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5k/day: $4,090.95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828800"/>
            <a:ext cx="34747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0" y="192024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78BFA"/>
                </a:solidFill>
              </a:defRPr>
            </a:pPr>
            <a:r>
              <a:t>Opus 4.7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Cost/1M Tok: In: $0.0206 | Out: $0.0249</a:t>
            </a:r>
          </a:p>
          <a:p>
            <a:br/>
            <a:r>
              <a:t>Bulk Requests: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1k requests: $45.46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10k requests: $454.55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100k requests: $4,545.50</a:t>
            </a:r>
          </a:p>
          <a:p>
            <a:br/>
            <a:r>
              <a:t>Monthly Projections (30d):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200/day: $272.73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1k/day: $1,363.65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5k/day: $6,818.25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4000" b="1">
                <a:solidFill>
                  <a:srgbClr val="F8FAFC"/>
                </a:solidFill>
              </a:defRPr>
            </a:pPr>
            <a:r>
              <a:t>Optimal Model Selection</a:t>
            </a:r>
          </a:p>
          <a:p>
            <a:pPr algn="l">
              <a:defRPr sz="2000">
                <a:solidFill>
                  <a:srgbClr val="94A3B8"/>
                </a:solidFill>
              </a:defRPr>
            </a:pPr>
            <a:r>
              <a:t>Why GPT-4o Mini is the perfect fit for NetoMate's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60152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4575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4D399"/>
                </a:solidFill>
              </a:defRPr>
            </a:pPr>
            <a:r>
              <a:t>The Clear Winner: GPT-4o Mini</a:t>
            </a:r>
            <a:br/>
            <a:endParaRPr/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1. Native Structured Outputs (JSON):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   Step D of your pipeline demands strict JSON without conversational filler. GPT-4o Mini natively supports 'response_format: json_object' yielding a 100% parse success rate.</a:t>
            </a:r>
            <a:br/>
            <a:endParaRPr/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2. Leveraging Existing Guardrails: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   Because NetoMate has rigid pre-processing (Step B state checks) and post-processing (Step E hallucination filters), you don't need a flagship model's reasoning. You just need a robust pattern matcher.</a:t>
            </a:r>
            <a:br/>
            <a:endParaRPr/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3. Unbeatable Cost Efficiency: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   At just $182/month for massive enterprise volume (5,000 req/day), it is effectively 7.5x cheaper than Haiku 4.5 and 15x cheaper than Gemini 3 Pro, leaving massive budget for UI/server infrastructure.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791</Words>
  <Application>Microsoft Office PowerPoint</Application>
  <PresentationFormat>Custom</PresentationFormat>
  <Paragraphs>112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Kartikay Upmanyu</cp:lastModifiedBy>
  <cp:revision>2</cp:revision>
  <dcterms:created xsi:type="dcterms:W3CDTF">2013-01-27T09:14:16Z</dcterms:created>
  <dcterms:modified xsi:type="dcterms:W3CDTF">2026-04-17T06:13:00Z</dcterms:modified>
  <cp:category/>
</cp:coreProperties>
</file>