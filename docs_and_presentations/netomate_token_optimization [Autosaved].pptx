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4610"/>
  </p:normalViewPr>
  <p:slideViewPr>
    <p:cSldViewPr snapToGrid="0" snapToObjects="1">
      <p:cViewPr varScale="1">
        <p:scale>
          <a:sx n="104" d="100"/>
          <a:sy n="104" d="100"/>
        </p:scale>
        <p:origin x="8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Current Cost ($)</c:v>
                </c:pt>
              </c:strCache>
            </c:strRef>
          </c:tx>
          <c:spPr>
            <a:solidFill>
              <a:srgbClr val="1B4F72"/>
            </a:solidFill>
            <a:effectLst/>
          </c:spPr>
          <c:invertIfNegative val="0"/>
          <c:cat>
            <c:strRef>
              <c:f>Sheet1!$A$2:$A$5</c:f>
              <c:strCache>
                <c:ptCount val="4"/>
                <c:pt idx="0">
                  <c:v>50/day</c:v>
                </c:pt>
                <c:pt idx="1">
                  <c:v>200/day</c:v>
                </c:pt>
                <c:pt idx="2">
                  <c:v>500/day</c:v>
                </c:pt>
                <c:pt idx="3">
                  <c:v>1,000/day</c:v>
                </c:pt>
              </c:strCache>
            </c:strRef>
          </c:cat>
          <c:val>
            <c:numRef>
              <c:f>Sheet1!$B$2:$B$5</c:f>
              <c:numCache>
                <c:formatCode>General</c:formatCode>
                <c:ptCount val="4"/>
                <c:pt idx="0">
                  <c:v>7.74</c:v>
                </c:pt>
                <c:pt idx="1">
                  <c:v>30.96</c:v>
                </c:pt>
                <c:pt idx="2">
                  <c:v>77.400000000000006</c:v>
                </c:pt>
                <c:pt idx="3">
                  <c:v>154.80000000000001</c:v>
                </c:pt>
              </c:numCache>
            </c:numRef>
          </c:val>
          <c:extLst>
            <c:ext xmlns:c16="http://schemas.microsoft.com/office/drawing/2014/chart" uri="{C3380CC4-5D6E-409C-BE32-E72D297353CC}">
              <c16:uniqueId val="{00000000-2C44-446F-86B8-F6D45D7108F2}"/>
            </c:ext>
          </c:extLst>
        </c:ser>
        <c:ser>
          <c:idx val="1"/>
          <c:order val="1"/>
          <c:tx>
            <c:strRef>
              <c:f>Sheet1!$C$1</c:f>
              <c:strCache>
                <c:ptCount val="1"/>
                <c:pt idx="0">
                  <c:v>Optimized Cost ($)</c:v>
                </c:pt>
              </c:strCache>
            </c:strRef>
          </c:tx>
          <c:spPr>
            <a:solidFill>
              <a:srgbClr val="1ABC9C"/>
            </a:solidFill>
            <a:effectLst/>
          </c:spPr>
          <c:invertIfNegative val="0"/>
          <c:cat>
            <c:strRef>
              <c:f>Sheet1!$A$2:$A$5</c:f>
              <c:strCache>
                <c:ptCount val="4"/>
                <c:pt idx="0">
                  <c:v>50/day</c:v>
                </c:pt>
                <c:pt idx="1">
                  <c:v>200/day</c:v>
                </c:pt>
                <c:pt idx="2">
                  <c:v>500/day</c:v>
                </c:pt>
                <c:pt idx="3">
                  <c:v>1,000/day</c:v>
                </c:pt>
              </c:strCache>
            </c:strRef>
          </c:cat>
          <c:val>
            <c:numRef>
              <c:f>Sheet1!$C$2:$C$5</c:f>
              <c:numCache>
                <c:formatCode>General</c:formatCode>
                <c:ptCount val="4"/>
                <c:pt idx="0">
                  <c:v>3.1</c:v>
                </c:pt>
                <c:pt idx="1">
                  <c:v>12.38</c:v>
                </c:pt>
                <c:pt idx="2">
                  <c:v>30.96</c:v>
                </c:pt>
                <c:pt idx="3">
                  <c:v>61.92</c:v>
                </c:pt>
              </c:numCache>
            </c:numRef>
          </c:val>
          <c:extLst>
            <c:ext xmlns:c16="http://schemas.microsoft.com/office/drawing/2014/chart" uri="{C3380CC4-5D6E-409C-BE32-E72D297353CC}">
              <c16:uniqueId val="{00000001-2C44-446F-86B8-F6D45D7108F2}"/>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8FAFC"/>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1B4F72"/>
                </a:solidFill>
                <a:latin typeface="Arial"/>
              </a:defRPr>
            </a:pPr>
            <a:r>
              <a:rPr lang="en-IN" sz="1100" b="0" i="0" u="none" strike="noStrike">
                <a:solidFill>
                  <a:srgbClr val="1B4F72"/>
                </a:solidFill>
                <a:latin typeface="Arial"/>
              </a:rPr>
              <a:t>Tokens per request</a:t>
            </a:r>
          </a:p>
        </c:rich>
      </c:tx>
      <c:overlay val="0"/>
    </c:title>
    <c:autoTitleDeleted val="0"/>
    <c:plotArea>
      <c:layout/>
      <c:barChart>
        <c:barDir val="col"/>
        <c:grouping val="clustered"/>
        <c:varyColors val="0"/>
        <c:ser>
          <c:idx val="0"/>
          <c:order val="0"/>
          <c:tx>
            <c:strRef>
              <c:f>Sheet1!$B$1</c:f>
              <c:strCache>
                <c:ptCount val="1"/>
                <c:pt idx="0">
                  <c:v>Tokens</c:v>
                </c:pt>
              </c:strCache>
            </c:strRef>
          </c:tx>
          <c:spPr>
            <a:solidFill>
              <a:srgbClr val="E74C3C"/>
            </a:solidFill>
            <a:effectLst/>
          </c:spPr>
          <c:invertIfNegative val="0"/>
          <c:dPt>
            <c:idx val="0"/>
            <c:invertIfNegative val="0"/>
            <c:bubble3D val="0"/>
            <c:extLst>
              <c:ext xmlns:c16="http://schemas.microsoft.com/office/drawing/2014/chart" uri="{C3380CC4-5D6E-409C-BE32-E72D297353CC}">
                <c16:uniqueId val="{00000001-7BD3-44C3-8E0F-E76BFE71F9BD}"/>
              </c:ext>
            </c:extLst>
          </c:dPt>
          <c:dPt>
            <c:idx val="1"/>
            <c:invertIfNegative val="0"/>
            <c:bubble3D val="0"/>
            <c:spPr>
              <a:solidFill>
                <a:srgbClr val="E67E22"/>
              </a:solidFill>
              <a:effectLst/>
            </c:spPr>
            <c:extLst>
              <c:ext xmlns:c16="http://schemas.microsoft.com/office/drawing/2014/chart" uri="{C3380CC4-5D6E-409C-BE32-E72D297353CC}">
                <c16:uniqueId val="{00000003-7BD3-44C3-8E0F-E76BFE71F9BD}"/>
              </c:ext>
            </c:extLst>
          </c:dPt>
          <c:dPt>
            <c:idx val="2"/>
            <c:invertIfNegative val="0"/>
            <c:bubble3D val="0"/>
            <c:spPr>
              <a:solidFill>
                <a:srgbClr val="1ABC9C"/>
              </a:solidFill>
              <a:effectLst/>
            </c:spPr>
            <c:extLst>
              <c:ext xmlns:c16="http://schemas.microsoft.com/office/drawing/2014/chart" uri="{C3380CC4-5D6E-409C-BE32-E72D297353CC}">
                <c16:uniqueId val="{00000005-7BD3-44C3-8E0F-E76BFE71F9BD}"/>
              </c:ext>
            </c:extLst>
          </c:dPt>
          <c:dPt>
            <c:idx val="3"/>
            <c:invertIfNegative val="0"/>
            <c:bubble3D val="0"/>
            <c:spPr>
              <a:solidFill>
                <a:srgbClr val="1E8449"/>
              </a:solidFill>
              <a:effectLst/>
            </c:spPr>
            <c:extLst>
              <c:ext xmlns:c16="http://schemas.microsoft.com/office/drawing/2014/chart" uri="{C3380CC4-5D6E-409C-BE32-E72D297353CC}">
                <c16:uniqueId val="{00000007-7BD3-44C3-8E0F-E76BFE71F9BD}"/>
              </c:ext>
            </c:extLst>
          </c:dPt>
          <c:dLbls>
            <c:numFmt formatCode="#,##0" sourceLinked="0"/>
            <c:spPr>
              <a:noFill/>
              <a:ln>
                <a:noFill/>
              </a:ln>
              <a:effectLst/>
            </c:spPr>
            <c:txPr>
              <a:bodyPr/>
              <a:lstStyle/>
              <a:p>
                <a:pPr>
                  <a:defRPr sz="1000" b="0" i="0" u="none" strike="noStrike">
                    <a:solidFill>
                      <a:srgbClr val="1C28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Current</c:v>
                </c:pt>
                <c:pt idx="1">
                  <c:v>Phase 1</c:v>
                </c:pt>
                <c:pt idx="2">
                  <c:v>Phase 2</c:v>
                </c:pt>
                <c:pt idx="3">
                  <c:v>Phase 3</c:v>
                </c:pt>
              </c:strCache>
            </c:strRef>
          </c:cat>
          <c:val>
            <c:numRef>
              <c:f>Sheet1!$B$2:$B$5</c:f>
              <c:numCache>
                <c:formatCode>General</c:formatCode>
                <c:ptCount val="4"/>
                <c:pt idx="0">
                  <c:v>4300</c:v>
                </c:pt>
                <c:pt idx="1">
                  <c:v>2000</c:v>
                </c:pt>
                <c:pt idx="2">
                  <c:v>1500</c:v>
                </c:pt>
                <c:pt idx="3">
                  <c:v>900</c:v>
                </c:pt>
              </c:numCache>
            </c:numRef>
          </c:val>
          <c:extLst>
            <c:ext xmlns:c16="http://schemas.microsoft.com/office/drawing/2014/chart" uri="{C3380CC4-5D6E-409C-BE32-E72D297353CC}">
              <c16:uniqueId val="{00000008-7BD3-44C3-8E0F-E76BFE71F9B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8FAFC"/>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44765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ABC9C"/>
          </a:solidFill>
          <a:ln w="12700">
            <a:solidFill>
              <a:srgbClr val="1ABC9C"/>
            </a:solidFill>
            <a:prstDash val="solid"/>
          </a:ln>
        </p:spPr>
        <p:txBody>
          <a:bodyPr/>
          <a:lstStyle/>
          <a:p>
            <a:endParaRPr lang="en-IN"/>
          </a:p>
        </p:txBody>
      </p:sp>
      <p:sp>
        <p:nvSpPr>
          <p:cNvPr id="3" name="Text 1"/>
          <p:cNvSpPr/>
          <p:nvPr/>
        </p:nvSpPr>
        <p:spPr>
          <a:xfrm>
            <a:off x="457200" y="1005840"/>
            <a:ext cx="8229600" cy="640080"/>
          </a:xfrm>
          <a:prstGeom prst="rect">
            <a:avLst/>
          </a:prstGeom>
          <a:noFill/>
          <a:ln/>
        </p:spPr>
        <p:txBody>
          <a:bodyPr wrap="square" lIns="0" tIns="0" rIns="0" bIns="0" rtlCol="0" anchor="ctr"/>
          <a:lstStyle/>
          <a:p>
            <a:pPr marL="0" indent="0">
              <a:buNone/>
            </a:pPr>
            <a:r>
              <a:rPr lang="en-US" sz="4400" b="1" dirty="0">
                <a:solidFill>
                  <a:srgbClr val="FFFFFF"/>
                </a:solidFill>
                <a:latin typeface="Times New Roman" panose="02020603050405020304" pitchFamily="18" charset="0"/>
                <a:ea typeface="Calibri" pitchFamily="34" charset="-122"/>
                <a:cs typeface="Times New Roman" panose="02020603050405020304" pitchFamily="18" charset="0"/>
              </a:rPr>
              <a:t>NETOMATE</a:t>
            </a:r>
            <a:endParaRPr lang="en-US" sz="4400" dirty="0">
              <a:latin typeface="Times New Roman" panose="02020603050405020304" pitchFamily="18" charset="0"/>
              <a:cs typeface="Times New Roman" panose="02020603050405020304" pitchFamily="18" charset="0"/>
            </a:endParaRPr>
          </a:p>
        </p:txBody>
      </p:sp>
      <p:sp>
        <p:nvSpPr>
          <p:cNvPr id="4" name="Text 2"/>
          <p:cNvSpPr/>
          <p:nvPr/>
        </p:nvSpPr>
        <p:spPr>
          <a:xfrm>
            <a:off x="457200" y="1737360"/>
            <a:ext cx="8229600" cy="457200"/>
          </a:xfrm>
          <a:prstGeom prst="rect">
            <a:avLst/>
          </a:prstGeom>
          <a:noFill/>
          <a:ln/>
        </p:spPr>
        <p:txBody>
          <a:bodyPr wrap="square" lIns="0" tIns="0" rIns="0" bIns="0" rtlCol="0" anchor="ctr"/>
          <a:lstStyle/>
          <a:p>
            <a:pPr marL="0" indent="0">
              <a:buNone/>
            </a:pPr>
            <a:r>
              <a:rPr lang="en-US" sz="2000" dirty="0">
                <a:solidFill>
                  <a:srgbClr val="1ABC9C"/>
                </a:solidFill>
                <a:latin typeface="Times New Roman" panose="02020603050405020304" pitchFamily="18" charset="0"/>
                <a:ea typeface="Calibri" pitchFamily="34" charset="-122"/>
                <a:cs typeface="Times New Roman" panose="02020603050405020304" pitchFamily="18" charset="0"/>
              </a:rPr>
              <a:t>Token Usage Analysis &amp; Optimization Strategy</a:t>
            </a:r>
            <a:endParaRPr lang="en-US" sz="2000" dirty="0">
              <a:latin typeface="Times New Roman" panose="02020603050405020304" pitchFamily="18" charset="0"/>
              <a:cs typeface="Times New Roman" panose="02020603050405020304" pitchFamily="18" charset="0"/>
            </a:endParaRPr>
          </a:p>
        </p:txBody>
      </p:sp>
      <p:sp>
        <p:nvSpPr>
          <p:cNvPr id="5" name="Shape 3"/>
          <p:cNvSpPr/>
          <p:nvPr/>
        </p:nvSpPr>
        <p:spPr>
          <a:xfrm>
            <a:off x="457200" y="2331720"/>
            <a:ext cx="8046720" cy="0"/>
          </a:xfrm>
          <a:prstGeom prst="line">
            <a:avLst/>
          </a:prstGeom>
          <a:noFill/>
          <a:ln w="6350">
            <a:solidFill>
              <a:srgbClr val="2E4057"/>
            </a:solidFill>
            <a:prstDash val="solid"/>
          </a:ln>
        </p:spPr>
        <p:txBody>
          <a:bodyPr/>
          <a:lstStyle/>
          <a:p>
            <a:endParaRPr lang="en-IN"/>
          </a:p>
        </p:txBody>
      </p:sp>
      <p:sp>
        <p:nvSpPr>
          <p:cNvPr id="6" name="Text 4"/>
          <p:cNvSpPr/>
          <p:nvPr/>
        </p:nvSpPr>
        <p:spPr>
          <a:xfrm>
            <a:off x="457200" y="2468880"/>
            <a:ext cx="4572000" cy="320040"/>
          </a:xfrm>
          <a:prstGeom prst="rect">
            <a:avLst/>
          </a:prstGeom>
          <a:noFill/>
          <a:ln/>
        </p:spPr>
        <p:txBody>
          <a:bodyPr wrap="square" lIns="0" tIns="0" rIns="0" bIns="0" rtlCol="0" anchor="ctr"/>
          <a:lstStyle/>
          <a:p>
            <a:pPr marL="0" indent="0">
              <a:buNone/>
            </a:pPr>
            <a:r>
              <a:rPr lang="en-US" sz="1300" dirty="0">
                <a:solidFill>
                  <a:srgbClr val="95A5A6"/>
                </a:solidFill>
                <a:latin typeface="Times New Roman" panose="02020603050405020304" pitchFamily="18" charset="0"/>
                <a:ea typeface="Calibri" pitchFamily="34" charset="-122"/>
                <a:cs typeface="Times New Roman" panose="02020603050405020304" pitchFamily="18" charset="0"/>
              </a:rPr>
              <a:t>Prepared by: </a:t>
            </a: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Kartikay Upmanyu</a:t>
            </a:r>
            <a:endParaRPr lang="en-US" sz="1300" dirty="0">
              <a:latin typeface="Times New Roman" panose="02020603050405020304" pitchFamily="18" charset="0"/>
              <a:cs typeface="Times New Roman" panose="02020603050405020304" pitchFamily="18" charset="0"/>
            </a:endParaRPr>
          </a:p>
        </p:txBody>
      </p:sp>
      <p:sp>
        <p:nvSpPr>
          <p:cNvPr id="7" name="Text 5"/>
          <p:cNvSpPr/>
          <p:nvPr/>
        </p:nvSpPr>
        <p:spPr>
          <a:xfrm>
            <a:off x="457200" y="2788920"/>
            <a:ext cx="6400800" cy="320040"/>
          </a:xfrm>
          <a:prstGeom prst="rect">
            <a:avLst/>
          </a:prstGeom>
          <a:noFill/>
          <a:ln/>
        </p:spPr>
        <p:txBody>
          <a:bodyPr wrap="square" lIns="0" tIns="0" rIns="0" bIns="0" rtlCol="0" anchor="ctr"/>
          <a:lstStyle/>
          <a:p>
            <a:pPr marL="0" indent="0">
              <a:buNone/>
            </a:pPr>
            <a:endParaRPr lang="en-US" sz="1300" dirty="0"/>
          </a:p>
        </p:txBody>
      </p:sp>
      <p:sp>
        <p:nvSpPr>
          <p:cNvPr id="8" name="Shape 6"/>
          <p:cNvSpPr/>
          <p:nvPr/>
        </p:nvSpPr>
        <p:spPr>
          <a:xfrm>
            <a:off x="457200" y="3566160"/>
            <a:ext cx="1965960" cy="347472"/>
          </a:xfrm>
          <a:prstGeom prst="rect">
            <a:avLst/>
          </a:prstGeom>
          <a:solidFill>
            <a:srgbClr val="2E4057"/>
          </a:solidFill>
          <a:ln w="10160">
            <a:solidFill>
              <a:srgbClr val="1ABC9C"/>
            </a:solidFill>
            <a:prstDash val="solid"/>
          </a:ln>
          <a:effectLst>
            <a:outerShdw blurRad="101600" dist="38100" dir="8100000" algn="bl" rotWithShape="0">
              <a:srgbClr val="000000">
                <a:alpha val="10000"/>
              </a:srgbClr>
            </a:outerShdw>
          </a:effectLst>
        </p:spPr>
        <p:txBody>
          <a:bodyPr/>
          <a:lstStyle/>
          <a:p>
            <a:endParaRPr lang="en-IN"/>
          </a:p>
        </p:txBody>
      </p:sp>
      <p:sp>
        <p:nvSpPr>
          <p:cNvPr id="9" name="Text 7"/>
          <p:cNvSpPr/>
          <p:nvPr/>
        </p:nvSpPr>
        <p:spPr>
          <a:xfrm>
            <a:off x="457200" y="3566160"/>
            <a:ext cx="1965960" cy="347472"/>
          </a:xfrm>
          <a:prstGeom prst="rect">
            <a:avLst/>
          </a:prstGeom>
          <a:noFill/>
          <a:ln/>
        </p:spPr>
        <p:txBody>
          <a:bodyPr wrap="square" lIns="0" tIns="0" rIns="0" bIns="0" rtlCol="0" anchor="ctr"/>
          <a:lstStyle/>
          <a:p>
            <a:pPr marL="0" indent="0" algn="ctr">
              <a:buNone/>
            </a:pPr>
            <a:r>
              <a:rPr lang="en-US" sz="1100" dirty="0">
                <a:solidFill>
                  <a:srgbClr val="1ABC9C"/>
                </a:solidFill>
                <a:latin typeface="Calibri" pitchFamily="34" charset="0"/>
                <a:ea typeface="Calibri" pitchFamily="34" charset="-122"/>
                <a:cs typeface="Calibri" pitchFamily="34" charset="-120"/>
              </a:rPr>
              <a:t>Token Flow</a:t>
            </a:r>
            <a:endParaRPr lang="en-US" sz="1100" dirty="0"/>
          </a:p>
        </p:txBody>
      </p:sp>
      <p:sp>
        <p:nvSpPr>
          <p:cNvPr id="10" name="Shape 8"/>
          <p:cNvSpPr/>
          <p:nvPr/>
        </p:nvSpPr>
        <p:spPr>
          <a:xfrm>
            <a:off x="2606040" y="3566160"/>
            <a:ext cx="1965960" cy="347472"/>
          </a:xfrm>
          <a:prstGeom prst="rect">
            <a:avLst/>
          </a:prstGeom>
          <a:solidFill>
            <a:srgbClr val="2E4057"/>
          </a:solidFill>
          <a:ln w="10160">
            <a:solidFill>
              <a:srgbClr val="1ABC9C"/>
            </a:solidFill>
            <a:prstDash val="solid"/>
          </a:ln>
          <a:effectLst>
            <a:outerShdw blurRad="101600" dist="38100" dir="8100000" algn="bl" rotWithShape="0">
              <a:srgbClr val="000000">
                <a:alpha val="10000"/>
              </a:srgbClr>
            </a:outerShdw>
          </a:effectLst>
        </p:spPr>
        <p:txBody>
          <a:bodyPr/>
          <a:lstStyle/>
          <a:p>
            <a:endParaRPr lang="en-IN"/>
          </a:p>
        </p:txBody>
      </p:sp>
      <p:sp>
        <p:nvSpPr>
          <p:cNvPr id="11" name="Text 9"/>
          <p:cNvSpPr/>
          <p:nvPr/>
        </p:nvSpPr>
        <p:spPr>
          <a:xfrm>
            <a:off x="2606040" y="3566160"/>
            <a:ext cx="1965960" cy="347472"/>
          </a:xfrm>
          <a:prstGeom prst="rect">
            <a:avLst/>
          </a:prstGeom>
          <a:noFill/>
          <a:ln/>
        </p:spPr>
        <p:txBody>
          <a:bodyPr wrap="square" lIns="0" tIns="0" rIns="0" bIns="0" rtlCol="0" anchor="ctr"/>
          <a:lstStyle/>
          <a:p>
            <a:pPr marL="0" indent="0" algn="ctr">
              <a:buNone/>
            </a:pPr>
            <a:r>
              <a:rPr lang="en-US" sz="1100" dirty="0">
                <a:solidFill>
                  <a:srgbClr val="1ABC9C"/>
                </a:solidFill>
                <a:latin typeface="Calibri" pitchFamily="34" charset="0"/>
                <a:ea typeface="Calibri" pitchFamily="34" charset="-122"/>
                <a:cs typeface="Calibri" pitchFamily="34" charset="-120"/>
              </a:rPr>
              <a:t>Usage Breakdown</a:t>
            </a:r>
            <a:endParaRPr lang="en-US" sz="1100" dirty="0"/>
          </a:p>
        </p:txBody>
      </p:sp>
      <p:sp>
        <p:nvSpPr>
          <p:cNvPr id="12" name="Shape 10"/>
          <p:cNvSpPr/>
          <p:nvPr/>
        </p:nvSpPr>
        <p:spPr>
          <a:xfrm>
            <a:off x="4754880" y="3566160"/>
            <a:ext cx="1965960" cy="347472"/>
          </a:xfrm>
          <a:prstGeom prst="rect">
            <a:avLst/>
          </a:prstGeom>
          <a:solidFill>
            <a:srgbClr val="2E4057"/>
          </a:solidFill>
          <a:ln w="10160">
            <a:solidFill>
              <a:srgbClr val="1ABC9C"/>
            </a:solidFill>
            <a:prstDash val="solid"/>
          </a:ln>
          <a:effectLst>
            <a:outerShdw blurRad="101600" dist="38100" dir="8100000" algn="bl" rotWithShape="0">
              <a:srgbClr val="000000">
                <a:alpha val="10000"/>
              </a:srgbClr>
            </a:outerShdw>
          </a:effectLst>
        </p:spPr>
        <p:txBody>
          <a:bodyPr/>
          <a:lstStyle/>
          <a:p>
            <a:endParaRPr lang="en-IN"/>
          </a:p>
        </p:txBody>
      </p:sp>
      <p:sp>
        <p:nvSpPr>
          <p:cNvPr id="13" name="Text 11"/>
          <p:cNvSpPr/>
          <p:nvPr/>
        </p:nvSpPr>
        <p:spPr>
          <a:xfrm>
            <a:off x="4754880" y="3566160"/>
            <a:ext cx="1965960" cy="347472"/>
          </a:xfrm>
          <a:prstGeom prst="rect">
            <a:avLst/>
          </a:prstGeom>
          <a:noFill/>
          <a:ln/>
        </p:spPr>
        <p:txBody>
          <a:bodyPr wrap="square" lIns="0" tIns="0" rIns="0" bIns="0" rtlCol="0" anchor="ctr"/>
          <a:lstStyle/>
          <a:p>
            <a:pPr marL="0" indent="0" algn="ctr">
              <a:buNone/>
            </a:pPr>
            <a:r>
              <a:rPr lang="en-US" sz="1100" dirty="0">
                <a:solidFill>
                  <a:srgbClr val="1ABC9C"/>
                </a:solidFill>
                <a:latin typeface="Calibri" pitchFamily="34" charset="0"/>
                <a:ea typeface="Calibri" pitchFamily="34" charset="-122"/>
                <a:cs typeface="Calibri" pitchFamily="34" charset="-120"/>
              </a:rPr>
              <a:t>Cost Impact</a:t>
            </a:r>
            <a:endParaRPr lang="en-US" sz="1100" dirty="0"/>
          </a:p>
        </p:txBody>
      </p:sp>
      <p:sp>
        <p:nvSpPr>
          <p:cNvPr id="14" name="Shape 12"/>
          <p:cNvSpPr/>
          <p:nvPr/>
        </p:nvSpPr>
        <p:spPr>
          <a:xfrm>
            <a:off x="6903720" y="3566160"/>
            <a:ext cx="1965960" cy="347472"/>
          </a:xfrm>
          <a:prstGeom prst="rect">
            <a:avLst/>
          </a:prstGeom>
          <a:solidFill>
            <a:srgbClr val="2E4057"/>
          </a:solidFill>
          <a:ln w="10160">
            <a:solidFill>
              <a:srgbClr val="1ABC9C"/>
            </a:solidFill>
            <a:prstDash val="solid"/>
          </a:ln>
          <a:effectLst>
            <a:outerShdw blurRad="101600" dist="38100" dir="8100000" algn="bl" rotWithShape="0">
              <a:srgbClr val="000000">
                <a:alpha val="10000"/>
              </a:srgbClr>
            </a:outerShdw>
          </a:effectLst>
        </p:spPr>
        <p:txBody>
          <a:bodyPr/>
          <a:lstStyle/>
          <a:p>
            <a:endParaRPr lang="en-IN"/>
          </a:p>
        </p:txBody>
      </p:sp>
      <p:sp>
        <p:nvSpPr>
          <p:cNvPr id="15" name="Text 13"/>
          <p:cNvSpPr/>
          <p:nvPr/>
        </p:nvSpPr>
        <p:spPr>
          <a:xfrm>
            <a:off x="6903720" y="3566160"/>
            <a:ext cx="1965960" cy="347472"/>
          </a:xfrm>
          <a:prstGeom prst="rect">
            <a:avLst/>
          </a:prstGeom>
          <a:noFill/>
          <a:ln/>
        </p:spPr>
        <p:txBody>
          <a:bodyPr wrap="square" lIns="0" tIns="0" rIns="0" bIns="0" rtlCol="0" anchor="ctr"/>
          <a:lstStyle/>
          <a:p>
            <a:pPr marL="0" indent="0" algn="ctr">
              <a:buNone/>
            </a:pPr>
            <a:r>
              <a:rPr lang="en-US" sz="1100" dirty="0">
                <a:solidFill>
                  <a:srgbClr val="1ABC9C"/>
                </a:solidFill>
                <a:latin typeface="Calibri" pitchFamily="34" charset="0"/>
                <a:ea typeface="Calibri" pitchFamily="34" charset="-122"/>
                <a:cs typeface="Calibri" pitchFamily="34" charset="-120"/>
              </a:rPr>
              <a:t>Inefficiencies</a:t>
            </a:r>
            <a:endParaRPr lang="en-US" sz="1100" dirty="0"/>
          </a:p>
        </p:txBody>
      </p:sp>
      <p:sp>
        <p:nvSpPr>
          <p:cNvPr id="16" name="Shape 14"/>
          <p:cNvSpPr/>
          <p:nvPr/>
        </p:nvSpPr>
        <p:spPr>
          <a:xfrm>
            <a:off x="457200" y="4041648"/>
            <a:ext cx="1965960" cy="347472"/>
          </a:xfrm>
          <a:prstGeom prst="rect">
            <a:avLst/>
          </a:prstGeom>
          <a:solidFill>
            <a:srgbClr val="2E4057"/>
          </a:solidFill>
          <a:ln w="10160">
            <a:solidFill>
              <a:srgbClr val="1ABC9C"/>
            </a:solidFill>
            <a:prstDash val="solid"/>
          </a:ln>
          <a:effectLst>
            <a:outerShdw blurRad="101600" dist="38100" dir="8100000" algn="bl" rotWithShape="0">
              <a:srgbClr val="000000">
                <a:alpha val="10000"/>
              </a:srgbClr>
            </a:outerShdw>
          </a:effectLst>
        </p:spPr>
        <p:txBody>
          <a:bodyPr/>
          <a:lstStyle/>
          <a:p>
            <a:endParaRPr lang="en-IN"/>
          </a:p>
        </p:txBody>
      </p:sp>
      <p:sp>
        <p:nvSpPr>
          <p:cNvPr id="17" name="Text 15"/>
          <p:cNvSpPr/>
          <p:nvPr/>
        </p:nvSpPr>
        <p:spPr>
          <a:xfrm>
            <a:off x="457200" y="4041648"/>
            <a:ext cx="1965960" cy="347472"/>
          </a:xfrm>
          <a:prstGeom prst="rect">
            <a:avLst/>
          </a:prstGeom>
          <a:noFill/>
          <a:ln/>
        </p:spPr>
        <p:txBody>
          <a:bodyPr wrap="square" lIns="0" tIns="0" rIns="0" bIns="0" rtlCol="0" anchor="ctr"/>
          <a:lstStyle/>
          <a:p>
            <a:pPr marL="0" indent="0" algn="ctr">
              <a:buNone/>
            </a:pPr>
            <a:r>
              <a:rPr lang="en-US" sz="1100" dirty="0">
                <a:solidFill>
                  <a:srgbClr val="1ABC9C"/>
                </a:solidFill>
                <a:latin typeface="Calibri" pitchFamily="34" charset="0"/>
                <a:ea typeface="Calibri" pitchFamily="34" charset="-122"/>
                <a:cs typeface="Calibri" pitchFamily="34" charset="-120"/>
              </a:rPr>
              <a:t>Roadmap</a:t>
            </a:r>
            <a:endParaRPr lang="en-US" sz="1100" dirty="0"/>
          </a:p>
        </p:txBody>
      </p:sp>
      <p:sp>
        <p:nvSpPr>
          <p:cNvPr id="18" name="Shape 16"/>
          <p:cNvSpPr/>
          <p:nvPr/>
        </p:nvSpPr>
        <p:spPr>
          <a:xfrm>
            <a:off x="2606040" y="4041648"/>
            <a:ext cx="1965960" cy="347472"/>
          </a:xfrm>
          <a:prstGeom prst="rect">
            <a:avLst/>
          </a:prstGeom>
          <a:solidFill>
            <a:srgbClr val="2E4057"/>
          </a:solidFill>
          <a:ln w="10160">
            <a:solidFill>
              <a:srgbClr val="1ABC9C"/>
            </a:solidFill>
            <a:prstDash val="solid"/>
          </a:ln>
          <a:effectLst>
            <a:outerShdw blurRad="101600" dist="38100" dir="8100000" algn="bl" rotWithShape="0">
              <a:srgbClr val="000000">
                <a:alpha val="10000"/>
              </a:srgbClr>
            </a:outerShdw>
          </a:effectLst>
        </p:spPr>
        <p:txBody>
          <a:bodyPr/>
          <a:lstStyle/>
          <a:p>
            <a:endParaRPr lang="en-IN"/>
          </a:p>
        </p:txBody>
      </p:sp>
      <p:sp>
        <p:nvSpPr>
          <p:cNvPr id="19" name="Text 17"/>
          <p:cNvSpPr/>
          <p:nvPr/>
        </p:nvSpPr>
        <p:spPr>
          <a:xfrm>
            <a:off x="2606040" y="4041648"/>
            <a:ext cx="1965960" cy="347472"/>
          </a:xfrm>
          <a:prstGeom prst="rect">
            <a:avLst/>
          </a:prstGeom>
          <a:noFill/>
          <a:ln/>
        </p:spPr>
        <p:txBody>
          <a:bodyPr wrap="square" lIns="0" tIns="0" rIns="0" bIns="0" rtlCol="0" anchor="ctr"/>
          <a:lstStyle/>
          <a:p>
            <a:pPr marL="0" indent="0" algn="ctr">
              <a:buNone/>
            </a:pPr>
            <a:r>
              <a:rPr lang="en-US" sz="1100" dirty="0">
                <a:solidFill>
                  <a:srgbClr val="1ABC9C"/>
                </a:solidFill>
                <a:latin typeface="Calibri" pitchFamily="34" charset="0"/>
                <a:ea typeface="Calibri" pitchFamily="34" charset="-122"/>
                <a:cs typeface="Calibri" pitchFamily="34" charset="-120"/>
              </a:rPr>
              <a:t>Savings</a:t>
            </a:r>
            <a:endParaRPr lang="en-US" sz="1100" dirty="0"/>
          </a:p>
        </p:txBody>
      </p:sp>
      <p:sp>
        <p:nvSpPr>
          <p:cNvPr id="20" name="Shape 18"/>
          <p:cNvSpPr/>
          <p:nvPr/>
        </p:nvSpPr>
        <p:spPr>
          <a:xfrm>
            <a:off x="4754880" y="4041648"/>
            <a:ext cx="1965960" cy="347472"/>
          </a:xfrm>
          <a:prstGeom prst="rect">
            <a:avLst/>
          </a:prstGeom>
          <a:solidFill>
            <a:srgbClr val="2E4057"/>
          </a:solidFill>
          <a:ln w="10160">
            <a:solidFill>
              <a:srgbClr val="1ABC9C"/>
            </a:solidFill>
            <a:prstDash val="solid"/>
          </a:ln>
          <a:effectLst>
            <a:outerShdw blurRad="101600" dist="38100" dir="8100000" algn="bl" rotWithShape="0">
              <a:srgbClr val="000000">
                <a:alpha val="10000"/>
              </a:srgbClr>
            </a:outerShdw>
          </a:effectLst>
        </p:spPr>
        <p:txBody>
          <a:bodyPr/>
          <a:lstStyle/>
          <a:p>
            <a:endParaRPr lang="en-IN"/>
          </a:p>
        </p:txBody>
      </p:sp>
      <p:sp>
        <p:nvSpPr>
          <p:cNvPr id="21" name="Text 19"/>
          <p:cNvSpPr/>
          <p:nvPr/>
        </p:nvSpPr>
        <p:spPr>
          <a:xfrm>
            <a:off x="4754880" y="4041648"/>
            <a:ext cx="1965960" cy="347472"/>
          </a:xfrm>
          <a:prstGeom prst="rect">
            <a:avLst/>
          </a:prstGeom>
          <a:noFill/>
          <a:ln/>
        </p:spPr>
        <p:txBody>
          <a:bodyPr wrap="square" lIns="0" tIns="0" rIns="0" bIns="0" rtlCol="0" anchor="ctr"/>
          <a:lstStyle/>
          <a:p>
            <a:pPr marL="0" indent="0" algn="ctr">
              <a:buNone/>
            </a:pPr>
            <a:r>
              <a:rPr lang="en-US" sz="1100" dirty="0">
                <a:solidFill>
                  <a:srgbClr val="1ABC9C"/>
                </a:solidFill>
                <a:latin typeface="Calibri" pitchFamily="34" charset="0"/>
                <a:ea typeface="Calibri" pitchFamily="34" charset="-122"/>
                <a:cs typeface="Calibri" pitchFamily="34" charset="-120"/>
              </a:rPr>
              <a:t>Next Steps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txBody>
          <a:bodyPr/>
          <a:lstStyle/>
          <a:p>
            <a:endParaRPr lang="en-IN"/>
          </a:p>
        </p:txBody>
      </p:sp>
      <p:sp>
        <p:nvSpPr>
          <p:cNvPr id="3" name="Shape 1"/>
          <p:cNvSpPr/>
          <p:nvPr/>
        </p:nvSpPr>
        <p:spPr>
          <a:xfrm>
            <a:off x="0" y="685800"/>
            <a:ext cx="9144000" cy="54864"/>
          </a:xfrm>
          <a:prstGeom prst="rect">
            <a:avLst/>
          </a:prstGeom>
          <a:solidFill>
            <a:srgbClr val="1ABC9C"/>
          </a:solidFill>
          <a:ln w="12700">
            <a:solidFill>
              <a:srgbClr val="1ABC9C"/>
            </a:solidFill>
            <a:prstDash val="solid"/>
          </a:ln>
        </p:spPr>
        <p:txBody>
          <a:bodyPr/>
          <a:lstStyle/>
          <a:p>
            <a:endParaRPr lang="en-IN"/>
          </a:p>
        </p:txBody>
      </p:sp>
      <p:sp>
        <p:nvSpPr>
          <p:cNvPr id="4" name="Text 2"/>
          <p:cNvSpPr/>
          <p:nvPr/>
        </p:nvSpPr>
        <p:spPr>
          <a:xfrm>
            <a:off x="320040" y="0"/>
            <a:ext cx="73152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01  Current Architecture Token Flow</a:t>
            </a:r>
            <a:endParaRPr lang="en-US" sz="2400" dirty="0"/>
          </a:p>
        </p:txBody>
      </p:sp>
      <p:sp>
        <p:nvSpPr>
          <p:cNvPr id="5" name="Text 3"/>
          <p:cNvSpPr/>
          <p:nvPr/>
        </p:nvSpPr>
        <p:spPr>
          <a:xfrm>
            <a:off x="320040" y="0"/>
            <a:ext cx="8503920" cy="685800"/>
          </a:xfrm>
          <a:prstGeom prst="rect">
            <a:avLst/>
          </a:prstGeom>
          <a:noFill/>
          <a:ln/>
        </p:spPr>
        <p:txBody>
          <a:bodyPr wrap="square" lIns="0" tIns="0" rIns="0" bIns="0" rtlCol="0" anchor="ctr"/>
          <a:lstStyle/>
          <a:p>
            <a:pPr marL="0" indent="0" algn="r">
              <a:buNone/>
            </a:pPr>
            <a:r>
              <a:rPr lang="en-US" sz="1200" dirty="0">
                <a:solidFill>
                  <a:srgbClr val="1ABC9C"/>
                </a:solidFill>
                <a:latin typeface="Calibri" pitchFamily="34" charset="0"/>
                <a:ea typeface="Calibri" pitchFamily="34" charset="-122"/>
                <a:cs typeface="Calibri" pitchFamily="34" charset="-120"/>
              </a:rPr>
              <a:t>How tokens move through the system per request</a:t>
            </a:r>
            <a:endParaRPr lang="en-US" sz="1200" dirty="0"/>
          </a:p>
        </p:txBody>
      </p:sp>
      <p:sp>
        <p:nvSpPr>
          <p:cNvPr id="6" name="Text 4"/>
          <p:cNvSpPr/>
          <p:nvPr/>
        </p:nvSpPr>
        <p:spPr>
          <a:xfrm>
            <a:off x="0" y="4892040"/>
            <a:ext cx="9144000" cy="246888"/>
          </a:xfrm>
          <a:prstGeom prst="rect">
            <a:avLst/>
          </a:prstGeom>
          <a:noFill/>
          <a:ln/>
        </p:spPr>
        <p:txBody>
          <a:bodyPr wrap="square" lIns="0" tIns="0" rIns="0" bIns="0" rtlCol="0" anchor="ctr"/>
          <a:lstStyle/>
          <a:p>
            <a:pPr marL="0" indent="0" algn="ctr">
              <a:buNone/>
            </a:pPr>
            <a:r>
              <a:rPr lang="en-US" sz="900" dirty="0" err="1">
                <a:solidFill>
                  <a:srgbClr val="95A5A6"/>
                </a:solidFill>
                <a:latin typeface="Calibri" pitchFamily="34" charset="0"/>
                <a:ea typeface="Calibri" pitchFamily="34" charset="-122"/>
                <a:cs typeface="Calibri" pitchFamily="34" charset="-120"/>
              </a:rPr>
              <a:t>NetoMate</a:t>
            </a:r>
            <a:r>
              <a:rPr lang="en-US" sz="900" dirty="0">
                <a:solidFill>
                  <a:srgbClr val="95A5A6"/>
                </a:solidFill>
                <a:latin typeface="Calibri" pitchFamily="34" charset="0"/>
                <a:ea typeface="Calibri" pitchFamily="34" charset="-122"/>
                <a:cs typeface="Calibri" pitchFamily="34" charset="-120"/>
              </a:rPr>
              <a:t>  |  Token Optimization</a:t>
            </a:r>
            <a:endParaRPr lang="en-US" sz="900" dirty="0"/>
          </a:p>
        </p:txBody>
      </p:sp>
      <p:sp>
        <p:nvSpPr>
          <p:cNvPr id="7" name="Shape 5"/>
          <p:cNvSpPr/>
          <p:nvPr/>
        </p:nvSpPr>
        <p:spPr>
          <a:xfrm>
            <a:off x="274320" y="868680"/>
            <a:ext cx="1115568" cy="621792"/>
          </a:xfrm>
          <a:prstGeom prst="rect">
            <a:avLst/>
          </a:prstGeom>
          <a:solidFill>
            <a:srgbClr val="1B4F72"/>
          </a:solidFill>
          <a:ln w="12700">
            <a:solidFill>
              <a:srgbClr val="1B4F72"/>
            </a:solidFill>
            <a:prstDash val="solid"/>
          </a:ln>
          <a:effectLst>
            <a:outerShdw blurRad="101600" dist="38100" dir="8100000" algn="bl" rotWithShape="0">
              <a:srgbClr val="000000">
                <a:alpha val="10000"/>
              </a:srgbClr>
            </a:outerShdw>
          </a:effectLst>
        </p:spPr>
        <p:txBody>
          <a:bodyPr/>
          <a:lstStyle/>
          <a:p>
            <a:endParaRPr lang="en-IN"/>
          </a:p>
        </p:txBody>
      </p:sp>
      <p:sp>
        <p:nvSpPr>
          <p:cNvPr id="8" name="Text 6"/>
          <p:cNvSpPr/>
          <p:nvPr/>
        </p:nvSpPr>
        <p:spPr>
          <a:xfrm>
            <a:off x="274320" y="914400"/>
            <a:ext cx="111556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Engineer Input</a:t>
            </a:r>
            <a:endParaRPr lang="en-US" sz="1000" dirty="0"/>
          </a:p>
        </p:txBody>
      </p:sp>
      <p:sp>
        <p:nvSpPr>
          <p:cNvPr id="9" name="Text 7"/>
          <p:cNvSpPr/>
          <p:nvPr/>
        </p:nvSpPr>
        <p:spPr>
          <a:xfrm>
            <a:off x="274320" y="1197864"/>
            <a:ext cx="1115568" cy="256032"/>
          </a:xfrm>
          <a:prstGeom prst="rect">
            <a:avLst/>
          </a:prstGeom>
          <a:noFill/>
          <a:ln/>
        </p:spPr>
        <p:txBody>
          <a:bodyPr wrap="square" lIns="0" tIns="0" rIns="0" bIns="0" rtlCol="0" anchor="ctr"/>
          <a:lstStyle/>
          <a:p>
            <a:pPr marL="0" indent="0" algn="ctr">
              <a:buNone/>
            </a:pPr>
            <a:r>
              <a:rPr lang="en-US" sz="850" dirty="0">
                <a:solidFill>
                  <a:srgbClr val="CCDDEE"/>
                </a:solidFill>
                <a:latin typeface="Calibri" pitchFamily="34" charset="0"/>
                <a:ea typeface="Calibri" pitchFamily="34" charset="-122"/>
                <a:cs typeface="Calibri" pitchFamily="34" charset="-120"/>
              </a:rPr>
              <a:t>flow + query</a:t>
            </a:r>
            <a:endParaRPr lang="en-US" sz="850" dirty="0"/>
          </a:p>
        </p:txBody>
      </p:sp>
      <p:sp>
        <p:nvSpPr>
          <p:cNvPr id="10" name="Shape 8"/>
          <p:cNvSpPr/>
          <p:nvPr/>
        </p:nvSpPr>
        <p:spPr>
          <a:xfrm>
            <a:off x="1389888" y="1179576"/>
            <a:ext cx="109728" cy="0"/>
          </a:xfrm>
          <a:prstGeom prst="line">
            <a:avLst/>
          </a:prstGeom>
          <a:noFill/>
          <a:ln w="12700">
            <a:solidFill>
              <a:srgbClr val="95A5A6"/>
            </a:solidFill>
            <a:prstDash val="solid"/>
          </a:ln>
        </p:spPr>
        <p:txBody>
          <a:bodyPr/>
          <a:lstStyle/>
          <a:p>
            <a:endParaRPr lang="en-IN"/>
          </a:p>
        </p:txBody>
      </p:sp>
      <p:sp>
        <p:nvSpPr>
          <p:cNvPr id="11" name="Text 9"/>
          <p:cNvSpPr/>
          <p:nvPr/>
        </p:nvSpPr>
        <p:spPr>
          <a:xfrm>
            <a:off x="1371600" y="1097280"/>
            <a:ext cx="137160" cy="347472"/>
          </a:xfrm>
          <a:prstGeom prst="rect">
            <a:avLst/>
          </a:prstGeom>
          <a:noFill/>
          <a:ln/>
        </p:spPr>
        <p:txBody>
          <a:bodyPr wrap="square" rtlCol="0" anchor="ctr"/>
          <a:lstStyle/>
          <a:p>
            <a:pPr marL="0" indent="0" algn="ctr">
              <a:buNone/>
            </a:pPr>
            <a:r>
              <a:rPr lang="en-US" sz="1400" dirty="0">
                <a:solidFill>
                  <a:srgbClr val="95A5A6"/>
                </a:solidFill>
              </a:rPr>
              <a:t>›</a:t>
            </a:r>
            <a:endParaRPr lang="en-US" sz="1400" dirty="0"/>
          </a:p>
        </p:txBody>
      </p:sp>
      <p:sp>
        <p:nvSpPr>
          <p:cNvPr id="12" name="Shape 10"/>
          <p:cNvSpPr/>
          <p:nvPr/>
        </p:nvSpPr>
        <p:spPr>
          <a:xfrm>
            <a:off x="1499616" y="868680"/>
            <a:ext cx="1115568" cy="621792"/>
          </a:xfrm>
          <a:prstGeom prst="rect">
            <a:avLst/>
          </a:prstGeom>
          <a:solidFill>
            <a:srgbClr val="2E4057"/>
          </a:solidFill>
          <a:ln w="12700">
            <a:solidFill>
              <a:srgbClr val="2E4057"/>
            </a:solidFill>
            <a:prstDash val="solid"/>
          </a:ln>
          <a:effectLst>
            <a:outerShdw blurRad="101600" dist="38100" dir="8100000" algn="bl" rotWithShape="0">
              <a:srgbClr val="000000">
                <a:alpha val="10000"/>
              </a:srgbClr>
            </a:outerShdw>
          </a:effectLst>
        </p:spPr>
        <p:txBody>
          <a:bodyPr/>
          <a:lstStyle/>
          <a:p>
            <a:endParaRPr lang="en-IN"/>
          </a:p>
        </p:txBody>
      </p:sp>
      <p:sp>
        <p:nvSpPr>
          <p:cNvPr id="13" name="Text 11"/>
          <p:cNvSpPr/>
          <p:nvPr/>
        </p:nvSpPr>
        <p:spPr>
          <a:xfrm>
            <a:off x="1499616" y="914400"/>
            <a:ext cx="111556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Input Parser</a:t>
            </a:r>
            <a:endParaRPr lang="en-US" sz="1000" dirty="0"/>
          </a:p>
        </p:txBody>
      </p:sp>
      <p:sp>
        <p:nvSpPr>
          <p:cNvPr id="14" name="Text 12"/>
          <p:cNvSpPr/>
          <p:nvPr/>
        </p:nvSpPr>
        <p:spPr>
          <a:xfrm>
            <a:off x="1499616" y="1197864"/>
            <a:ext cx="1115568" cy="256032"/>
          </a:xfrm>
          <a:prstGeom prst="rect">
            <a:avLst/>
          </a:prstGeom>
          <a:noFill/>
          <a:ln/>
        </p:spPr>
        <p:txBody>
          <a:bodyPr wrap="square" lIns="0" tIns="0" rIns="0" bIns="0" rtlCol="0" anchor="ctr"/>
          <a:lstStyle/>
          <a:p>
            <a:pPr marL="0" indent="0" algn="ctr">
              <a:buNone/>
            </a:pPr>
            <a:r>
              <a:rPr lang="en-US" sz="850" dirty="0">
                <a:solidFill>
                  <a:srgbClr val="CCDDEE"/>
                </a:solidFill>
                <a:latin typeface="Calibri" pitchFamily="34" charset="0"/>
                <a:ea typeface="Calibri" pitchFamily="34" charset="-122"/>
                <a:cs typeface="Calibri" pitchFamily="34" charset="-120"/>
              </a:rPr>
              <a:t>category + state</a:t>
            </a:r>
            <a:endParaRPr lang="en-US" sz="850" dirty="0"/>
          </a:p>
        </p:txBody>
      </p:sp>
      <p:sp>
        <p:nvSpPr>
          <p:cNvPr id="15" name="Shape 13"/>
          <p:cNvSpPr/>
          <p:nvPr/>
        </p:nvSpPr>
        <p:spPr>
          <a:xfrm>
            <a:off x="2615184" y="1179576"/>
            <a:ext cx="109728" cy="0"/>
          </a:xfrm>
          <a:prstGeom prst="line">
            <a:avLst/>
          </a:prstGeom>
          <a:noFill/>
          <a:ln w="12700">
            <a:solidFill>
              <a:srgbClr val="95A5A6"/>
            </a:solidFill>
            <a:prstDash val="solid"/>
          </a:ln>
        </p:spPr>
        <p:txBody>
          <a:bodyPr/>
          <a:lstStyle/>
          <a:p>
            <a:endParaRPr lang="en-IN"/>
          </a:p>
        </p:txBody>
      </p:sp>
      <p:sp>
        <p:nvSpPr>
          <p:cNvPr id="16" name="Text 14"/>
          <p:cNvSpPr/>
          <p:nvPr/>
        </p:nvSpPr>
        <p:spPr>
          <a:xfrm>
            <a:off x="2596896" y="1097280"/>
            <a:ext cx="137160" cy="347472"/>
          </a:xfrm>
          <a:prstGeom prst="rect">
            <a:avLst/>
          </a:prstGeom>
          <a:noFill/>
          <a:ln/>
        </p:spPr>
        <p:txBody>
          <a:bodyPr wrap="square" rtlCol="0" anchor="ctr"/>
          <a:lstStyle/>
          <a:p>
            <a:pPr marL="0" indent="0" algn="ctr">
              <a:buNone/>
            </a:pPr>
            <a:r>
              <a:rPr lang="en-US" sz="1400" dirty="0">
                <a:solidFill>
                  <a:srgbClr val="95A5A6"/>
                </a:solidFill>
              </a:rPr>
              <a:t>›</a:t>
            </a:r>
            <a:endParaRPr lang="en-US" sz="1400" dirty="0"/>
          </a:p>
        </p:txBody>
      </p:sp>
      <p:sp>
        <p:nvSpPr>
          <p:cNvPr id="17" name="Shape 15"/>
          <p:cNvSpPr/>
          <p:nvPr/>
        </p:nvSpPr>
        <p:spPr>
          <a:xfrm>
            <a:off x="2724912" y="868680"/>
            <a:ext cx="1115568" cy="621792"/>
          </a:xfrm>
          <a:prstGeom prst="rect">
            <a:avLst/>
          </a:prstGeom>
          <a:solidFill>
            <a:srgbClr val="E67E22"/>
          </a:solidFill>
          <a:ln w="12700">
            <a:solidFill>
              <a:srgbClr val="E67E22"/>
            </a:solidFill>
            <a:prstDash val="solid"/>
          </a:ln>
          <a:effectLst>
            <a:outerShdw blurRad="101600" dist="38100" dir="8100000" algn="bl" rotWithShape="0">
              <a:srgbClr val="000000">
                <a:alpha val="10000"/>
              </a:srgbClr>
            </a:outerShdw>
          </a:effectLst>
        </p:spPr>
        <p:txBody>
          <a:bodyPr/>
          <a:lstStyle/>
          <a:p>
            <a:endParaRPr lang="en-IN"/>
          </a:p>
        </p:txBody>
      </p:sp>
      <p:sp>
        <p:nvSpPr>
          <p:cNvPr id="18" name="Text 16"/>
          <p:cNvSpPr/>
          <p:nvPr/>
        </p:nvSpPr>
        <p:spPr>
          <a:xfrm>
            <a:off x="2724912" y="914400"/>
            <a:ext cx="111556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Intent Classifier</a:t>
            </a:r>
            <a:endParaRPr lang="en-US" sz="1000" dirty="0"/>
          </a:p>
        </p:txBody>
      </p:sp>
      <p:sp>
        <p:nvSpPr>
          <p:cNvPr id="19" name="Text 17"/>
          <p:cNvSpPr/>
          <p:nvPr/>
        </p:nvSpPr>
        <p:spPr>
          <a:xfrm>
            <a:off x="2724912" y="1197864"/>
            <a:ext cx="1115568" cy="256032"/>
          </a:xfrm>
          <a:prstGeom prst="rect">
            <a:avLst/>
          </a:prstGeom>
          <a:noFill/>
          <a:ln/>
        </p:spPr>
        <p:txBody>
          <a:bodyPr wrap="square" lIns="0" tIns="0" rIns="0" bIns="0" rtlCol="0" anchor="ctr"/>
          <a:lstStyle/>
          <a:p>
            <a:pPr marL="0" indent="0" algn="ctr">
              <a:buNone/>
            </a:pPr>
            <a:r>
              <a:rPr lang="en-US" sz="850" dirty="0">
                <a:solidFill>
                  <a:srgbClr val="CCDDEE"/>
                </a:solidFill>
                <a:latin typeface="Calibri" pitchFamily="34" charset="0"/>
                <a:ea typeface="Calibri" pitchFamily="34" charset="-122"/>
                <a:cs typeface="Calibri" pitchFamily="34" charset="-120"/>
              </a:rPr>
              <a:t>keyword routing</a:t>
            </a:r>
            <a:endParaRPr lang="en-US" sz="850" dirty="0"/>
          </a:p>
        </p:txBody>
      </p:sp>
      <p:sp>
        <p:nvSpPr>
          <p:cNvPr id="20" name="Shape 18"/>
          <p:cNvSpPr/>
          <p:nvPr/>
        </p:nvSpPr>
        <p:spPr>
          <a:xfrm>
            <a:off x="3840480" y="1179576"/>
            <a:ext cx="109728" cy="0"/>
          </a:xfrm>
          <a:prstGeom prst="line">
            <a:avLst/>
          </a:prstGeom>
          <a:noFill/>
          <a:ln w="12700">
            <a:solidFill>
              <a:srgbClr val="95A5A6"/>
            </a:solidFill>
            <a:prstDash val="solid"/>
          </a:ln>
        </p:spPr>
        <p:txBody>
          <a:bodyPr/>
          <a:lstStyle/>
          <a:p>
            <a:endParaRPr lang="en-IN"/>
          </a:p>
        </p:txBody>
      </p:sp>
      <p:sp>
        <p:nvSpPr>
          <p:cNvPr id="21" name="Text 19"/>
          <p:cNvSpPr/>
          <p:nvPr/>
        </p:nvSpPr>
        <p:spPr>
          <a:xfrm>
            <a:off x="3822192" y="1097280"/>
            <a:ext cx="137160" cy="347472"/>
          </a:xfrm>
          <a:prstGeom prst="rect">
            <a:avLst/>
          </a:prstGeom>
          <a:noFill/>
          <a:ln/>
        </p:spPr>
        <p:txBody>
          <a:bodyPr wrap="square" rtlCol="0" anchor="ctr"/>
          <a:lstStyle/>
          <a:p>
            <a:pPr marL="0" indent="0" algn="ctr">
              <a:buNone/>
            </a:pPr>
            <a:r>
              <a:rPr lang="en-US" sz="1400" dirty="0">
                <a:solidFill>
                  <a:srgbClr val="95A5A6"/>
                </a:solidFill>
              </a:rPr>
              <a:t>›</a:t>
            </a:r>
            <a:endParaRPr lang="en-US" sz="1400" dirty="0"/>
          </a:p>
        </p:txBody>
      </p:sp>
      <p:sp>
        <p:nvSpPr>
          <p:cNvPr id="22" name="Shape 20"/>
          <p:cNvSpPr/>
          <p:nvPr/>
        </p:nvSpPr>
        <p:spPr>
          <a:xfrm>
            <a:off x="3950208" y="868680"/>
            <a:ext cx="1115568" cy="621792"/>
          </a:xfrm>
          <a:prstGeom prst="rect">
            <a:avLst/>
          </a:prstGeom>
          <a:solidFill>
            <a:srgbClr val="8E44AD"/>
          </a:solidFill>
          <a:ln w="12700">
            <a:solidFill>
              <a:srgbClr val="8E44AD"/>
            </a:solidFill>
            <a:prstDash val="solid"/>
          </a:ln>
          <a:effectLst>
            <a:outerShdw blurRad="101600" dist="38100" dir="8100000" algn="bl" rotWithShape="0">
              <a:srgbClr val="000000">
                <a:alpha val="10000"/>
              </a:srgbClr>
            </a:outerShdw>
          </a:effectLst>
        </p:spPr>
        <p:txBody>
          <a:bodyPr/>
          <a:lstStyle/>
          <a:p>
            <a:endParaRPr lang="en-IN"/>
          </a:p>
        </p:txBody>
      </p:sp>
      <p:sp>
        <p:nvSpPr>
          <p:cNvPr id="23" name="Text 21"/>
          <p:cNvSpPr/>
          <p:nvPr/>
        </p:nvSpPr>
        <p:spPr>
          <a:xfrm>
            <a:off x="3950208" y="914400"/>
            <a:ext cx="111556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Prompt Builder</a:t>
            </a:r>
            <a:endParaRPr lang="en-US" sz="1000" dirty="0"/>
          </a:p>
        </p:txBody>
      </p:sp>
      <p:sp>
        <p:nvSpPr>
          <p:cNvPr id="24" name="Text 22"/>
          <p:cNvSpPr/>
          <p:nvPr/>
        </p:nvSpPr>
        <p:spPr>
          <a:xfrm>
            <a:off x="3950208" y="1197864"/>
            <a:ext cx="1115568" cy="256032"/>
          </a:xfrm>
          <a:prstGeom prst="rect">
            <a:avLst/>
          </a:prstGeom>
          <a:noFill/>
          <a:ln/>
        </p:spPr>
        <p:txBody>
          <a:bodyPr wrap="square" lIns="0" tIns="0" rIns="0" bIns="0" rtlCol="0" anchor="ctr"/>
          <a:lstStyle/>
          <a:p>
            <a:pPr marL="0" indent="0" algn="ctr">
              <a:buNone/>
            </a:pPr>
            <a:r>
              <a:rPr lang="en-US" sz="850" dirty="0">
                <a:solidFill>
                  <a:srgbClr val="CCDDEE"/>
                </a:solidFill>
                <a:latin typeface="Calibri" pitchFamily="34" charset="0"/>
                <a:ea typeface="Calibri" pitchFamily="34" charset="-122"/>
                <a:cs typeface="Calibri" pitchFamily="34" charset="-120"/>
              </a:rPr>
              <a:t>50 flows + state + query</a:t>
            </a:r>
            <a:endParaRPr lang="en-US" sz="850" dirty="0"/>
          </a:p>
        </p:txBody>
      </p:sp>
      <p:sp>
        <p:nvSpPr>
          <p:cNvPr id="25" name="Shape 23"/>
          <p:cNvSpPr/>
          <p:nvPr/>
        </p:nvSpPr>
        <p:spPr>
          <a:xfrm>
            <a:off x="5065776" y="1179576"/>
            <a:ext cx="109728" cy="0"/>
          </a:xfrm>
          <a:prstGeom prst="line">
            <a:avLst/>
          </a:prstGeom>
          <a:noFill/>
          <a:ln w="12700">
            <a:solidFill>
              <a:srgbClr val="95A5A6"/>
            </a:solidFill>
            <a:prstDash val="solid"/>
          </a:ln>
        </p:spPr>
        <p:txBody>
          <a:bodyPr/>
          <a:lstStyle/>
          <a:p>
            <a:endParaRPr lang="en-IN"/>
          </a:p>
        </p:txBody>
      </p:sp>
      <p:sp>
        <p:nvSpPr>
          <p:cNvPr id="26" name="Text 24"/>
          <p:cNvSpPr/>
          <p:nvPr/>
        </p:nvSpPr>
        <p:spPr>
          <a:xfrm>
            <a:off x="5047488" y="1097280"/>
            <a:ext cx="137160" cy="347472"/>
          </a:xfrm>
          <a:prstGeom prst="rect">
            <a:avLst/>
          </a:prstGeom>
          <a:noFill/>
          <a:ln/>
        </p:spPr>
        <p:txBody>
          <a:bodyPr wrap="square" rtlCol="0" anchor="ctr"/>
          <a:lstStyle/>
          <a:p>
            <a:pPr marL="0" indent="0" algn="ctr">
              <a:buNone/>
            </a:pPr>
            <a:r>
              <a:rPr lang="en-US" sz="1400" dirty="0">
                <a:solidFill>
                  <a:srgbClr val="95A5A6"/>
                </a:solidFill>
              </a:rPr>
              <a:t>›</a:t>
            </a:r>
            <a:endParaRPr lang="en-US" sz="1400" dirty="0"/>
          </a:p>
        </p:txBody>
      </p:sp>
      <p:sp>
        <p:nvSpPr>
          <p:cNvPr id="27" name="Shape 25"/>
          <p:cNvSpPr/>
          <p:nvPr/>
        </p:nvSpPr>
        <p:spPr>
          <a:xfrm>
            <a:off x="5175504" y="868680"/>
            <a:ext cx="1115568" cy="621792"/>
          </a:xfrm>
          <a:prstGeom prst="rect">
            <a:avLst/>
          </a:prstGeom>
          <a:solidFill>
            <a:srgbClr val="0E6655"/>
          </a:solidFill>
          <a:ln w="12700">
            <a:solidFill>
              <a:srgbClr val="0E6655"/>
            </a:solidFill>
            <a:prstDash val="solid"/>
          </a:ln>
          <a:effectLst>
            <a:outerShdw blurRad="101600" dist="38100" dir="8100000" algn="bl" rotWithShape="0">
              <a:srgbClr val="000000">
                <a:alpha val="10000"/>
              </a:srgbClr>
            </a:outerShdw>
          </a:effectLst>
        </p:spPr>
        <p:txBody>
          <a:bodyPr/>
          <a:lstStyle/>
          <a:p>
            <a:endParaRPr lang="en-IN"/>
          </a:p>
        </p:txBody>
      </p:sp>
      <p:sp>
        <p:nvSpPr>
          <p:cNvPr id="28" name="Text 26"/>
          <p:cNvSpPr/>
          <p:nvPr/>
        </p:nvSpPr>
        <p:spPr>
          <a:xfrm>
            <a:off x="5175504" y="914400"/>
            <a:ext cx="111556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LLM (GPT OSS 120B)</a:t>
            </a:r>
            <a:endParaRPr lang="en-US" sz="1000" dirty="0"/>
          </a:p>
        </p:txBody>
      </p:sp>
      <p:sp>
        <p:nvSpPr>
          <p:cNvPr id="29" name="Text 27"/>
          <p:cNvSpPr/>
          <p:nvPr/>
        </p:nvSpPr>
        <p:spPr>
          <a:xfrm>
            <a:off x="5175504" y="1197864"/>
            <a:ext cx="1115568" cy="256032"/>
          </a:xfrm>
          <a:prstGeom prst="rect">
            <a:avLst/>
          </a:prstGeom>
          <a:noFill/>
          <a:ln/>
        </p:spPr>
        <p:txBody>
          <a:bodyPr wrap="square" lIns="0" tIns="0" rIns="0" bIns="0" rtlCol="0" anchor="ctr"/>
          <a:lstStyle/>
          <a:p>
            <a:pPr marL="0" indent="0" algn="ctr">
              <a:buNone/>
            </a:pPr>
            <a:r>
              <a:rPr lang="en-US" sz="850" dirty="0">
                <a:solidFill>
                  <a:srgbClr val="CCDDEE"/>
                </a:solidFill>
                <a:latin typeface="Calibri" pitchFamily="34" charset="0"/>
                <a:ea typeface="Calibri" pitchFamily="34" charset="-122"/>
                <a:cs typeface="Calibri" pitchFamily="34" charset="-120"/>
              </a:rPr>
              <a:t>full-dataset reasoning</a:t>
            </a:r>
            <a:endParaRPr lang="en-US" sz="850" dirty="0"/>
          </a:p>
        </p:txBody>
      </p:sp>
      <p:sp>
        <p:nvSpPr>
          <p:cNvPr id="30" name="Shape 28"/>
          <p:cNvSpPr/>
          <p:nvPr/>
        </p:nvSpPr>
        <p:spPr>
          <a:xfrm>
            <a:off x="6291072" y="1179576"/>
            <a:ext cx="109728" cy="0"/>
          </a:xfrm>
          <a:prstGeom prst="line">
            <a:avLst/>
          </a:prstGeom>
          <a:noFill/>
          <a:ln w="12700">
            <a:solidFill>
              <a:srgbClr val="95A5A6"/>
            </a:solidFill>
            <a:prstDash val="solid"/>
          </a:ln>
        </p:spPr>
        <p:txBody>
          <a:bodyPr/>
          <a:lstStyle/>
          <a:p>
            <a:endParaRPr lang="en-IN"/>
          </a:p>
        </p:txBody>
      </p:sp>
      <p:sp>
        <p:nvSpPr>
          <p:cNvPr id="31" name="Text 29"/>
          <p:cNvSpPr/>
          <p:nvPr/>
        </p:nvSpPr>
        <p:spPr>
          <a:xfrm>
            <a:off x="6272784" y="1097280"/>
            <a:ext cx="137160" cy="347472"/>
          </a:xfrm>
          <a:prstGeom prst="rect">
            <a:avLst/>
          </a:prstGeom>
          <a:noFill/>
          <a:ln/>
        </p:spPr>
        <p:txBody>
          <a:bodyPr wrap="square" rtlCol="0" anchor="ctr"/>
          <a:lstStyle/>
          <a:p>
            <a:pPr marL="0" indent="0" algn="ctr">
              <a:buNone/>
            </a:pPr>
            <a:r>
              <a:rPr lang="en-US" sz="1400" dirty="0">
                <a:solidFill>
                  <a:srgbClr val="95A5A6"/>
                </a:solidFill>
              </a:rPr>
              <a:t>›</a:t>
            </a:r>
            <a:endParaRPr lang="en-US" sz="1400" dirty="0"/>
          </a:p>
        </p:txBody>
      </p:sp>
      <p:sp>
        <p:nvSpPr>
          <p:cNvPr id="32" name="Shape 30"/>
          <p:cNvSpPr/>
          <p:nvPr/>
        </p:nvSpPr>
        <p:spPr>
          <a:xfrm>
            <a:off x="6400800" y="868680"/>
            <a:ext cx="1115568" cy="621792"/>
          </a:xfrm>
          <a:prstGeom prst="rect">
            <a:avLst/>
          </a:prstGeom>
          <a:solidFill>
            <a:srgbClr val="1E8449"/>
          </a:solidFill>
          <a:ln w="12700">
            <a:solidFill>
              <a:srgbClr val="1E8449"/>
            </a:solidFill>
            <a:prstDash val="solid"/>
          </a:ln>
          <a:effectLst>
            <a:outerShdw blurRad="101600" dist="38100" dir="8100000" algn="bl" rotWithShape="0">
              <a:srgbClr val="000000">
                <a:alpha val="10000"/>
              </a:srgbClr>
            </a:outerShdw>
          </a:effectLst>
        </p:spPr>
        <p:txBody>
          <a:bodyPr/>
          <a:lstStyle/>
          <a:p>
            <a:endParaRPr lang="en-IN"/>
          </a:p>
        </p:txBody>
      </p:sp>
      <p:sp>
        <p:nvSpPr>
          <p:cNvPr id="33" name="Text 31"/>
          <p:cNvSpPr/>
          <p:nvPr/>
        </p:nvSpPr>
        <p:spPr>
          <a:xfrm>
            <a:off x="6400800" y="914400"/>
            <a:ext cx="111556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Post-processor</a:t>
            </a:r>
            <a:endParaRPr lang="en-US" sz="1000" dirty="0"/>
          </a:p>
        </p:txBody>
      </p:sp>
      <p:sp>
        <p:nvSpPr>
          <p:cNvPr id="34" name="Text 32"/>
          <p:cNvSpPr/>
          <p:nvPr/>
        </p:nvSpPr>
        <p:spPr>
          <a:xfrm>
            <a:off x="6400800" y="1197864"/>
            <a:ext cx="1115568" cy="256032"/>
          </a:xfrm>
          <a:prstGeom prst="rect">
            <a:avLst/>
          </a:prstGeom>
          <a:noFill/>
          <a:ln/>
        </p:spPr>
        <p:txBody>
          <a:bodyPr wrap="square" lIns="0" tIns="0" rIns="0" bIns="0" rtlCol="0" anchor="ctr"/>
          <a:lstStyle/>
          <a:p>
            <a:pPr marL="0" indent="0" algn="ctr">
              <a:buNone/>
            </a:pPr>
            <a:r>
              <a:rPr lang="en-US" sz="850" dirty="0">
                <a:solidFill>
                  <a:srgbClr val="CCDDEE"/>
                </a:solidFill>
                <a:latin typeface="Calibri" pitchFamily="34" charset="0"/>
                <a:ea typeface="Calibri" pitchFamily="34" charset="-122"/>
                <a:cs typeface="Calibri" pitchFamily="34" charset="-120"/>
              </a:rPr>
              <a:t>filter + rank</a:t>
            </a:r>
            <a:endParaRPr lang="en-US" sz="850" dirty="0"/>
          </a:p>
        </p:txBody>
      </p:sp>
      <p:sp>
        <p:nvSpPr>
          <p:cNvPr id="35" name="Shape 33"/>
          <p:cNvSpPr/>
          <p:nvPr/>
        </p:nvSpPr>
        <p:spPr>
          <a:xfrm>
            <a:off x="7516368" y="1179576"/>
            <a:ext cx="109728" cy="0"/>
          </a:xfrm>
          <a:prstGeom prst="line">
            <a:avLst/>
          </a:prstGeom>
          <a:noFill/>
          <a:ln w="12700">
            <a:solidFill>
              <a:srgbClr val="95A5A6"/>
            </a:solidFill>
            <a:prstDash val="solid"/>
          </a:ln>
        </p:spPr>
        <p:txBody>
          <a:bodyPr/>
          <a:lstStyle/>
          <a:p>
            <a:endParaRPr lang="en-IN"/>
          </a:p>
        </p:txBody>
      </p:sp>
      <p:sp>
        <p:nvSpPr>
          <p:cNvPr id="36" name="Text 34"/>
          <p:cNvSpPr/>
          <p:nvPr/>
        </p:nvSpPr>
        <p:spPr>
          <a:xfrm>
            <a:off x="7498080" y="1097280"/>
            <a:ext cx="137160" cy="347472"/>
          </a:xfrm>
          <a:prstGeom prst="rect">
            <a:avLst/>
          </a:prstGeom>
          <a:noFill/>
          <a:ln/>
        </p:spPr>
        <p:txBody>
          <a:bodyPr wrap="square" rtlCol="0" anchor="ctr"/>
          <a:lstStyle/>
          <a:p>
            <a:pPr marL="0" indent="0" algn="ctr">
              <a:buNone/>
            </a:pPr>
            <a:r>
              <a:rPr lang="en-US" sz="1400" dirty="0">
                <a:solidFill>
                  <a:srgbClr val="95A5A6"/>
                </a:solidFill>
              </a:rPr>
              <a:t>›</a:t>
            </a:r>
            <a:endParaRPr lang="en-US" sz="1400" dirty="0"/>
          </a:p>
        </p:txBody>
      </p:sp>
      <p:sp>
        <p:nvSpPr>
          <p:cNvPr id="37" name="Shape 35"/>
          <p:cNvSpPr/>
          <p:nvPr/>
        </p:nvSpPr>
        <p:spPr>
          <a:xfrm>
            <a:off x="7626096" y="868680"/>
            <a:ext cx="1115568" cy="621792"/>
          </a:xfrm>
          <a:prstGeom prst="rect">
            <a:avLst/>
          </a:prstGeom>
          <a:solidFill>
            <a:srgbClr val="27AE60"/>
          </a:solidFill>
          <a:ln w="12700">
            <a:solidFill>
              <a:srgbClr val="27AE60"/>
            </a:solidFill>
            <a:prstDash val="solid"/>
          </a:ln>
          <a:effectLst>
            <a:outerShdw blurRad="101600" dist="38100" dir="8100000" algn="bl" rotWithShape="0">
              <a:srgbClr val="000000">
                <a:alpha val="10000"/>
              </a:srgbClr>
            </a:outerShdw>
          </a:effectLst>
        </p:spPr>
        <p:txBody>
          <a:bodyPr/>
          <a:lstStyle/>
          <a:p>
            <a:endParaRPr lang="en-IN"/>
          </a:p>
        </p:txBody>
      </p:sp>
      <p:sp>
        <p:nvSpPr>
          <p:cNvPr id="38" name="Text 36"/>
          <p:cNvSpPr/>
          <p:nvPr/>
        </p:nvSpPr>
        <p:spPr>
          <a:xfrm>
            <a:off x="7626096" y="914400"/>
            <a:ext cx="111556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Top 3 Output</a:t>
            </a:r>
            <a:endParaRPr lang="en-US" sz="1000" dirty="0"/>
          </a:p>
        </p:txBody>
      </p:sp>
      <p:sp>
        <p:nvSpPr>
          <p:cNvPr id="39" name="Text 37"/>
          <p:cNvSpPr/>
          <p:nvPr/>
        </p:nvSpPr>
        <p:spPr>
          <a:xfrm>
            <a:off x="7626096" y="1197864"/>
            <a:ext cx="1115568" cy="256032"/>
          </a:xfrm>
          <a:prstGeom prst="rect">
            <a:avLst/>
          </a:prstGeom>
          <a:noFill/>
          <a:ln/>
        </p:spPr>
        <p:txBody>
          <a:bodyPr wrap="square" lIns="0" tIns="0" rIns="0" bIns="0" rtlCol="0" anchor="ctr"/>
          <a:lstStyle/>
          <a:p>
            <a:pPr marL="0" indent="0" algn="ctr">
              <a:buNone/>
            </a:pPr>
            <a:r>
              <a:rPr lang="en-US" sz="850" dirty="0">
                <a:solidFill>
                  <a:srgbClr val="CCDDEE"/>
                </a:solidFill>
                <a:latin typeface="Calibri" pitchFamily="34" charset="0"/>
                <a:ea typeface="Calibri" pitchFamily="34" charset="-122"/>
                <a:cs typeface="Calibri" pitchFamily="34" charset="-120"/>
              </a:rPr>
              <a:t>fn + score + reason</a:t>
            </a:r>
            <a:endParaRPr lang="en-US" sz="850" dirty="0"/>
          </a:p>
        </p:txBody>
      </p:sp>
      <p:sp>
        <p:nvSpPr>
          <p:cNvPr id="40" name="Text 38"/>
          <p:cNvSpPr/>
          <p:nvPr/>
        </p:nvSpPr>
        <p:spPr>
          <a:xfrm>
            <a:off x="320040" y="1664208"/>
            <a:ext cx="8503920" cy="27432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Token-generating components per request</a:t>
            </a:r>
            <a:endParaRPr lang="en-US" sz="12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320040" y="1965960"/>
          <a:ext cx="8503920" cy="2633472"/>
        </p:xfrm>
        <a:graphic>
          <a:graphicData uri="http://schemas.openxmlformats.org/drawingml/2006/table">
            <a:tbl>
              <a:tblPr/>
              <a:tblGrid>
                <a:gridCol w="219456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32918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Component</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Content Injected</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Token Type</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Static / Dynamic</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0"/>
                  </a:ext>
                </a:extLst>
              </a:tr>
              <a:tr h="32918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50 benchmark flows</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Serialized sequences (all categories)</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Input</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Static per session</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32918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Prompt template &amp; rules</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Instructions, output format, constraints</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Input</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Static</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32918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Current flow</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Engineer's partial function sequence</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Input</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Dynamic per request</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32918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NLP query</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Engineer's natural language intent</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Input</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Dynamic per request</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32918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Flow state + category</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Detected labels (MOBILE, MID_ACTION…)</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Input</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Dynamic per request</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r h="32918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Session micro-hint</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Distilled behavioral summary (15 tokens)</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Input</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Dynamic, opt-in</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6"/>
                  </a:ext>
                </a:extLst>
              </a:tr>
              <a:tr h="32918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LLM response</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5 candidates + scores + explanations</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Output</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Dynamic per request</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txBody>
          <a:bodyPr/>
          <a:lstStyle/>
          <a:p>
            <a:endParaRPr lang="en-IN"/>
          </a:p>
        </p:txBody>
      </p:sp>
      <p:sp>
        <p:nvSpPr>
          <p:cNvPr id="3" name="Shape 1"/>
          <p:cNvSpPr/>
          <p:nvPr/>
        </p:nvSpPr>
        <p:spPr>
          <a:xfrm>
            <a:off x="0" y="685800"/>
            <a:ext cx="9144000" cy="54864"/>
          </a:xfrm>
          <a:prstGeom prst="rect">
            <a:avLst/>
          </a:prstGeom>
          <a:solidFill>
            <a:srgbClr val="E67E22"/>
          </a:solidFill>
          <a:ln w="12700">
            <a:solidFill>
              <a:srgbClr val="E67E22"/>
            </a:solidFill>
            <a:prstDash val="solid"/>
          </a:ln>
        </p:spPr>
        <p:txBody>
          <a:bodyPr/>
          <a:lstStyle/>
          <a:p>
            <a:endParaRPr lang="en-IN"/>
          </a:p>
        </p:txBody>
      </p:sp>
      <p:sp>
        <p:nvSpPr>
          <p:cNvPr id="4" name="Text 2"/>
          <p:cNvSpPr/>
          <p:nvPr/>
        </p:nvSpPr>
        <p:spPr>
          <a:xfrm>
            <a:off x="320040" y="0"/>
            <a:ext cx="73152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02  Input / Output Token Breakdown</a:t>
            </a:r>
            <a:endParaRPr lang="en-US" sz="2400" dirty="0"/>
          </a:p>
        </p:txBody>
      </p:sp>
      <p:sp>
        <p:nvSpPr>
          <p:cNvPr id="5" name="Text 3"/>
          <p:cNvSpPr/>
          <p:nvPr/>
        </p:nvSpPr>
        <p:spPr>
          <a:xfrm>
            <a:off x="320040" y="0"/>
            <a:ext cx="8503920" cy="685800"/>
          </a:xfrm>
          <a:prstGeom prst="rect">
            <a:avLst/>
          </a:prstGeom>
          <a:noFill/>
          <a:ln/>
        </p:spPr>
        <p:txBody>
          <a:bodyPr wrap="square" lIns="0" tIns="0" rIns="0" bIns="0" rtlCol="0" anchor="ctr"/>
          <a:lstStyle/>
          <a:p>
            <a:pPr marL="0" indent="0" algn="r">
              <a:buNone/>
            </a:pPr>
            <a:r>
              <a:rPr lang="en-US" sz="1200" dirty="0">
                <a:solidFill>
                  <a:srgbClr val="E67E22"/>
                </a:solidFill>
                <a:latin typeface="Calibri" pitchFamily="34" charset="0"/>
                <a:ea typeface="Calibri" pitchFamily="34" charset="-122"/>
                <a:cs typeface="Calibri" pitchFamily="34" charset="-120"/>
              </a:rPr>
              <a:t>Estimated per-request token usage</a:t>
            </a:r>
            <a:endParaRPr lang="en-US" sz="1200" dirty="0"/>
          </a:p>
        </p:txBody>
      </p:sp>
      <p:sp>
        <p:nvSpPr>
          <p:cNvPr id="6" name="Text 4"/>
          <p:cNvSpPr/>
          <p:nvPr/>
        </p:nvSpPr>
        <p:spPr>
          <a:xfrm>
            <a:off x="0" y="4892040"/>
            <a:ext cx="9144000" cy="246888"/>
          </a:xfrm>
          <a:prstGeom prst="rect">
            <a:avLst/>
          </a:prstGeom>
          <a:noFill/>
          <a:ln/>
        </p:spPr>
        <p:txBody>
          <a:bodyPr wrap="square" lIns="0" tIns="0" rIns="0" bIns="0" rtlCol="0" anchor="ctr"/>
          <a:lstStyle/>
          <a:p>
            <a:pPr marL="0" indent="0" algn="ctr">
              <a:buNone/>
            </a:pPr>
            <a:r>
              <a:rPr lang="en-US" sz="900" dirty="0" err="1">
                <a:solidFill>
                  <a:srgbClr val="95A5A6"/>
                </a:solidFill>
                <a:latin typeface="Calibri" pitchFamily="34" charset="0"/>
                <a:ea typeface="Calibri" pitchFamily="34" charset="-122"/>
                <a:cs typeface="Calibri" pitchFamily="34" charset="-120"/>
              </a:rPr>
              <a:t>NetoMate</a:t>
            </a:r>
            <a:r>
              <a:rPr lang="en-US" sz="900" dirty="0">
                <a:solidFill>
                  <a:srgbClr val="95A5A6"/>
                </a:solidFill>
                <a:latin typeface="Calibri" pitchFamily="34" charset="0"/>
                <a:ea typeface="Calibri" pitchFamily="34" charset="-122"/>
                <a:cs typeface="Calibri" pitchFamily="34" charset="-120"/>
              </a:rPr>
              <a:t>  |  Token Optimization</a:t>
            </a:r>
            <a:endParaRPr lang="en-US" sz="900" dirty="0"/>
          </a:p>
        </p:txBody>
      </p:sp>
      <p:sp>
        <p:nvSpPr>
          <p:cNvPr id="7" name="Shape 5"/>
          <p:cNvSpPr/>
          <p:nvPr/>
        </p:nvSpPr>
        <p:spPr>
          <a:xfrm>
            <a:off x="320040" y="868680"/>
            <a:ext cx="1965960" cy="1005840"/>
          </a:xfrm>
          <a:prstGeom prst="rect">
            <a:avLst/>
          </a:prstGeom>
          <a:solidFill>
            <a:srgbClr val="0D1B2A"/>
          </a:solidFill>
          <a:ln w="12700">
            <a:solidFill>
              <a:srgbClr val="0D1B2A"/>
            </a:solidFill>
            <a:prstDash val="solid"/>
          </a:ln>
          <a:effectLst>
            <a:outerShdw blurRad="101600" dist="38100" dir="8100000" algn="bl" rotWithShape="0">
              <a:srgbClr val="000000">
                <a:alpha val="10000"/>
              </a:srgbClr>
            </a:outerShdw>
          </a:effectLst>
        </p:spPr>
        <p:txBody>
          <a:bodyPr/>
          <a:lstStyle/>
          <a:p>
            <a:endParaRPr lang="en-IN"/>
          </a:p>
        </p:txBody>
      </p:sp>
      <p:sp>
        <p:nvSpPr>
          <p:cNvPr id="8" name="Text 6"/>
          <p:cNvSpPr/>
          <p:nvPr/>
        </p:nvSpPr>
        <p:spPr>
          <a:xfrm>
            <a:off x="320040" y="896112"/>
            <a:ext cx="1965960" cy="530352"/>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~4,000</a:t>
            </a:r>
            <a:endParaRPr lang="en-US" sz="3000" dirty="0"/>
          </a:p>
        </p:txBody>
      </p:sp>
      <p:sp>
        <p:nvSpPr>
          <p:cNvPr id="9" name="Text 7"/>
          <p:cNvSpPr/>
          <p:nvPr/>
        </p:nvSpPr>
        <p:spPr>
          <a:xfrm>
            <a:off x="320040" y="1389888"/>
            <a:ext cx="196596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Total input tokens</a:t>
            </a:r>
            <a:endParaRPr lang="en-US" sz="1000" dirty="0"/>
          </a:p>
        </p:txBody>
      </p:sp>
      <p:sp>
        <p:nvSpPr>
          <p:cNvPr id="10" name="Text 8"/>
          <p:cNvSpPr/>
          <p:nvPr/>
        </p:nvSpPr>
        <p:spPr>
          <a:xfrm>
            <a:off x="320040" y="1627632"/>
            <a:ext cx="1965960" cy="201168"/>
          </a:xfrm>
          <a:prstGeom prst="rect">
            <a:avLst/>
          </a:prstGeom>
          <a:noFill/>
          <a:ln/>
        </p:spPr>
        <p:txBody>
          <a:bodyPr wrap="square" lIns="0" tIns="0" rIns="0" bIns="0" rtlCol="0" anchor="ctr"/>
          <a:lstStyle/>
          <a:p>
            <a:pPr marL="0" indent="0" algn="ctr">
              <a:buNone/>
            </a:pPr>
            <a:r>
              <a:rPr lang="en-US" sz="850" dirty="0">
                <a:solidFill>
                  <a:srgbClr val="CCDDEE"/>
                </a:solidFill>
                <a:latin typeface="Calibri" pitchFamily="34" charset="0"/>
                <a:ea typeface="Calibri" pitchFamily="34" charset="-122"/>
                <a:cs typeface="Calibri" pitchFamily="34" charset="-120"/>
              </a:rPr>
              <a:t>per standard request</a:t>
            </a:r>
            <a:endParaRPr lang="en-US" sz="850" dirty="0"/>
          </a:p>
        </p:txBody>
      </p:sp>
      <p:sp>
        <p:nvSpPr>
          <p:cNvPr id="11" name="Shape 9"/>
          <p:cNvSpPr/>
          <p:nvPr/>
        </p:nvSpPr>
        <p:spPr>
          <a:xfrm>
            <a:off x="2468880" y="868680"/>
            <a:ext cx="1965960" cy="1005840"/>
          </a:xfrm>
          <a:prstGeom prst="rect">
            <a:avLst/>
          </a:prstGeom>
          <a:solidFill>
            <a:srgbClr val="0E6655"/>
          </a:solidFill>
          <a:ln w="12700">
            <a:solidFill>
              <a:srgbClr val="0E6655"/>
            </a:solidFill>
            <a:prstDash val="solid"/>
          </a:ln>
          <a:effectLst>
            <a:outerShdw blurRad="101600" dist="38100" dir="8100000" algn="bl" rotWithShape="0">
              <a:srgbClr val="000000">
                <a:alpha val="10000"/>
              </a:srgbClr>
            </a:outerShdw>
          </a:effectLst>
        </p:spPr>
        <p:txBody>
          <a:bodyPr/>
          <a:lstStyle/>
          <a:p>
            <a:endParaRPr lang="en-IN"/>
          </a:p>
        </p:txBody>
      </p:sp>
      <p:sp>
        <p:nvSpPr>
          <p:cNvPr id="12" name="Text 10"/>
          <p:cNvSpPr/>
          <p:nvPr/>
        </p:nvSpPr>
        <p:spPr>
          <a:xfrm>
            <a:off x="2468880" y="896112"/>
            <a:ext cx="1965960" cy="530352"/>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~300</a:t>
            </a:r>
            <a:endParaRPr lang="en-US" sz="3000" dirty="0"/>
          </a:p>
        </p:txBody>
      </p:sp>
      <p:sp>
        <p:nvSpPr>
          <p:cNvPr id="13" name="Text 11"/>
          <p:cNvSpPr/>
          <p:nvPr/>
        </p:nvSpPr>
        <p:spPr>
          <a:xfrm>
            <a:off x="2468880" y="1389888"/>
            <a:ext cx="196596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Output tokens</a:t>
            </a:r>
            <a:endParaRPr lang="en-US" sz="1000" dirty="0"/>
          </a:p>
        </p:txBody>
      </p:sp>
      <p:sp>
        <p:nvSpPr>
          <p:cNvPr id="14" name="Text 12"/>
          <p:cNvSpPr/>
          <p:nvPr/>
        </p:nvSpPr>
        <p:spPr>
          <a:xfrm>
            <a:off x="2468880" y="1627632"/>
            <a:ext cx="1965960" cy="201168"/>
          </a:xfrm>
          <a:prstGeom prst="rect">
            <a:avLst/>
          </a:prstGeom>
          <a:noFill/>
          <a:ln/>
        </p:spPr>
        <p:txBody>
          <a:bodyPr wrap="square" lIns="0" tIns="0" rIns="0" bIns="0" rtlCol="0" anchor="ctr"/>
          <a:lstStyle/>
          <a:p>
            <a:pPr marL="0" indent="0" algn="ctr">
              <a:buNone/>
            </a:pPr>
            <a:r>
              <a:rPr lang="en-US" sz="850" dirty="0">
                <a:solidFill>
                  <a:srgbClr val="CCDDEE"/>
                </a:solidFill>
                <a:latin typeface="Calibri" pitchFamily="34" charset="0"/>
                <a:ea typeface="Calibri" pitchFamily="34" charset="-122"/>
                <a:cs typeface="Calibri" pitchFamily="34" charset="-120"/>
              </a:rPr>
              <a:t>5 candidates + reasoning</a:t>
            </a:r>
            <a:endParaRPr lang="en-US" sz="850" dirty="0"/>
          </a:p>
        </p:txBody>
      </p:sp>
      <p:sp>
        <p:nvSpPr>
          <p:cNvPr id="15" name="Shape 13"/>
          <p:cNvSpPr/>
          <p:nvPr/>
        </p:nvSpPr>
        <p:spPr>
          <a:xfrm>
            <a:off x="4617720" y="868680"/>
            <a:ext cx="1965960" cy="1005840"/>
          </a:xfrm>
          <a:prstGeom prst="rect">
            <a:avLst/>
          </a:prstGeom>
          <a:solidFill>
            <a:srgbClr val="8E44AD"/>
          </a:solidFill>
          <a:ln w="12700">
            <a:solidFill>
              <a:srgbClr val="8E44AD"/>
            </a:solidFill>
            <a:prstDash val="solid"/>
          </a:ln>
          <a:effectLst>
            <a:outerShdw blurRad="101600" dist="38100" dir="8100000" algn="bl" rotWithShape="0">
              <a:srgbClr val="000000">
                <a:alpha val="10000"/>
              </a:srgbClr>
            </a:outerShdw>
          </a:effectLst>
        </p:spPr>
        <p:txBody>
          <a:bodyPr/>
          <a:lstStyle/>
          <a:p>
            <a:endParaRPr lang="en-IN"/>
          </a:p>
        </p:txBody>
      </p:sp>
      <p:sp>
        <p:nvSpPr>
          <p:cNvPr id="16" name="Text 14"/>
          <p:cNvSpPr/>
          <p:nvPr/>
        </p:nvSpPr>
        <p:spPr>
          <a:xfrm>
            <a:off x="4617720" y="896112"/>
            <a:ext cx="1965960" cy="530352"/>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~4,300</a:t>
            </a:r>
            <a:endParaRPr lang="en-US" sz="3000" dirty="0"/>
          </a:p>
        </p:txBody>
      </p:sp>
      <p:sp>
        <p:nvSpPr>
          <p:cNvPr id="17" name="Text 15"/>
          <p:cNvSpPr/>
          <p:nvPr/>
        </p:nvSpPr>
        <p:spPr>
          <a:xfrm>
            <a:off x="4617720" y="1389888"/>
            <a:ext cx="196596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Total tokens</a:t>
            </a:r>
            <a:endParaRPr lang="en-US" sz="1000" dirty="0"/>
          </a:p>
        </p:txBody>
      </p:sp>
      <p:sp>
        <p:nvSpPr>
          <p:cNvPr id="18" name="Text 16"/>
          <p:cNvSpPr/>
          <p:nvPr/>
        </p:nvSpPr>
        <p:spPr>
          <a:xfrm>
            <a:off x="4617720" y="1627632"/>
            <a:ext cx="1965960" cy="201168"/>
          </a:xfrm>
          <a:prstGeom prst="rect">
            <a:avLst/>
          </a:prstGeom>
          <a:noFill/>
          <a:ln/>
        </p:spPr>
        <p:txBody>
          <a:bodyPr wrap="square" lIns="0" tIns="0" rIns="0" bIns="0" rtlCol="0" anchor="ctr"/>
          <a:lstStyle/>
          <a:p>
            <a:pPr marL="0" indent="0" algn="ctr">
              <a:buNone/>
            </a:pPr>
            <a:r>
              <a:rPr lang="en-US" sz="850" dirty="0">
                <a:solidFill>
                  <a:srgbClr val="CCDDEE"/>
                </a:solidFill>
                <a:latin typeface="Calibri" pitchFamily="34" charset="0"/>
                <a:ea typeface="Calibri" pitchFamily="34" charset="-122"/>
                <a:cs typeface="Calibri" pitchFamily="34" charset="-120"/>
              </a:rPr>
              <a:t>per full request cycle</a:t>
            </a:r>
            <a:endParaRPr lang="en-US" sz="850" dirty="0"/>
          </a:p>
        </p:txBody>
      </p:sp>
      <p:sp>
        <p:nvSpPr>
          <p:cNvPr id="19" name="Shape 17"/>
          <p:cNvSpPr/>
          <p:nvPr/>
        </p:nvSpPr>
        <p:spPr>
          <a:xfrm>
            <a:off x="6766560" y="868680"/>
            <a:ext cx="1965960" cy="1005840"/>
          </a:xfrm>
          <a:prstGeom prst="rect">
            <a:avLst/>
          </a:prstGeom>
          <a:solidFill>
            <a:srgbClr val="E67E22"/>
          </a:solidFill>
          <a:ln w="12700">
            <a:solidFill>
              <a:srgbClr val="E67E22"/>
            </a:solidFill>
            <a:prstDash val="solid"/>
          </a:ln>
          <a:effectLst>
            <a:outerShdw blurRad="101600" dist="38100" dir="8100000" algn="bl" rotWithShape="0">
              <a:srgbClr val="000000">
                <a:alpha val="10000"/>
              </a:srgbClr>
            </a:outerShdw>
          </a:effectLst>
        </p:spPr>
        <p:txBody>
          <a:bodyPr/>
          <a:lstStyle/>
          <a:p>
            <a:endParaRPr lang="en-IN"/>
          </a:p>
        </p:txBody>
      </p:sp>
      <p:sp>
        <p:nvSpPr>
          <p:cNvPr id="20" name="Text 18"/>
          <p:cNvSpPr/>
          <p:nvPr/>
        </p:nvSpPr>
        <p:spPr>
          <a:xfrm>
            <a:off x="6766560" y="896112"/>
            <a:ext cx="1965960" cy="530352"/>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~3,000</a:t>
            </a:r>
            <a:endParaRPr lang="en-US" sz="3000" dirty="0"/>
          </a:p>
        </p:txBody>
      </p:sp>
      <p:sp>
        <p:nvSpPr>
          <p:cNvPr id="21" name="Text 19"/>
          <p:cNvSpPr/>
          <p:nvPr/>
        </p:nvSpPr>
        <p:spPr>
          <a:xfrm>
            <a:off x="6766560" y="1389888"/>
            <a:ext cx="196596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Dataset tokens</a:t>
            </a:r>
            <a:endParaRPr lang="en-US" sz="1000" dirty="0"/>
          </a:p>
        </p:txBody>
      </p:sp>
      <p:sp>
        <p:nvSpPr>
          <p:cNvPr id="22" name="Text 20"/>
          <p:cNvSpPr/>
          <p:nvPr/>
        </p:nvSpPr>
        <p:spPr>
          <a:xfrm>
            <a:off x="6766560" y="1627632"/>
            <a:ext cx="1965960" cy="201168"/>
          </a:xfrm>
          <a:prstGeom prst="rect">
            <a:avLst/>
          </a:prstGeom>
          <a:noFill/>
          <a:ln/>
        </p:spPr>
        <p:txBody>
          <a:bodyPr wrap="square" lIns="0" tIns="0" rIns="0" bIns="0" rtlCol="0" anchor="ctr"/>
          <a:lstStyle/>
          <a:p>
            <a:pPr marL="0" indent="0" algn="ctr">
              <a:buNone/>
            </a:pPr>
            <a:r>
              <a:rPr lang="en-US" sz="850" dirty="0">
                <a:solidFill>
                  <a:srgbClr val="CCDDEE"/>
                </a:solidFill>
                <a:latin typeface="Calibri" pitchFamily="34" charset="0"/>
                <a:ea typeface="Calibri" pitchFamily="34" charset="-122"/>
                <a:cs typeface="Calibri" pitchFamily="34" charset="-120"/>
              </a:rPr>
              <a:t>70% of input budget</a:t>
            </a:r>
            <a:endParaRPr lang="en-US" sz="850" dirty="0"/>
          </a:p>
        </p:txBody>
      </p:sp>
      <p:sp>
        <p:nvSpPr>
          <p:cNvPr id="23" name="Text 21"/>
          <p:cNvSpPr/>
          <p:nvPr/>
        </p:nvSpPr>
        <p:spPr>
          <a:xfrm>
            <a:off x="320040" y="2011680"/>
            <a:ext cx="4572000" cy="27432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Input token breakdown by component</a:t>
            </a:r>
            <a:endParaRPr lang="en-US" sz="1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320040" y="2331720"/>
          <a:ext cx="4389120" cy="2340864"/>
        </p:xfrm>
        <a:graphic>
          <a:graphicData uri="http://schemas.openxmlformats.org/drawingml/2006/table">
            <a:tbl>
              <a:tblPr/>
              <a:tblGrid>
                <a:gridCol w="23774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29260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Component</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Tokens</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 of Input</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0"/>
                  </a:ext>
                </a:extLst>
              </a:tr>
              <a:tr h="29260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50 benchmark flows</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~2,800</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70.0%</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29260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Function KB (if injected)</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~700</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17.5%</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29260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Prompt template + rules</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~300</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7.5%</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29260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Current flow + query</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29260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Session micro-hint</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0.4%</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r h="29260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State + category labels</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0.4%</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6"/>
                  </a:ext>
                </a:extLst>
              </a:tr>
              <a:tr h="292608">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TOTAL INPUT</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~3,930–4,630</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7"/>
                  </a:ext>
                </a:extLst>
              </a:tr>
            </a:tbl>
          </a:graphicData>
        </a:graphic>
      </p:graphicFrame>
      <p:sp>
        <p:nvSpPr>
          <p:cNvPr id="25" name="Text 22"/>
          <p:cNvSpPr/>
          <p:nvPr/>
        </p:nvSpPr>
        <p:spPr>
          <a:xfrm>
            <a:off x="5029200" y="2011680"/>
            <a:ext cx="3840480" cy="27432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Output token breakdown</a:t>
            </a:r>
            <a:endParaRPr lang="en-US" sz="1200" dirty="0"/>
          </a:p>
        </p:txBody>
      </p:sp>
      <p:graphicFrame>
        <p:nvGraphicFramePr>
          <p:cNvPr id="26" name="Table 1"/>
          <p:cNvGraphicFramePr>
            <a:graphicFrameLocks noGrp="1"/>
          </p:cNvGraphicFramePr>
          <p:nvPr>
            <p:extLst>
              <p:ext uri="{D42A27DB-BD31-4B8C-83A1-F6EECF244321}">
                <p14:modId xmlns:p14="http://schemas.microsoft.com/office/powerpoint/2010/main" val="1579011935"/>
              </p:ext>
            </p:extLst>
          </p:nvPr>
        </p:nvGraphicFramePr>
        <p:xfrm>
          <a:off x="5029200" y="2331720"/>
          <a:ext cx="3794760" cy="2340864"/>
        </p:xfrm>
        <a:graphic>
          <a:graphicData uri="http://schemas.openxmlformats.org/drawingml/2006/table">
            <a:tbl>
              <a:tblPr/>
              <a:tblGrid>
                <a:gridCol w="283464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tblGrid>
              <a:tr h="29260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Component</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Tokens</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0"/>
                  </a:ext>
                </a:extLst>
              </a:tr>
              <a:tr h="29260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3 function names</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29260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Confidence scores (×3)</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29260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One-line explanations (×3)</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~90</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29260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Source tags (×3)</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29260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JSON formatting overhead</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~50</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r h="29260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Extra candidates (4th, 5th)</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~80</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6"/>
                  </a:ext>
                </a:extLst>
              </a:tr>
              <a:tr h="292608">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TOTAL OUTPUT</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~260–300</a:t>
                      </a:r>
                      <a:endParaRPr lang="en-US" sz="11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txBody>
          <a:bodyPr/>
          <a:lstStyle/>
          <a:p>
            <a:endParaRPr lang="en-IN"/>
          </a:p>
        </p:txBody>
      </p:sp>
      <p:sp>
        <p:nvSpPr>
          <p:cNvPr id="3" name="Shape 1"/>
          <p:cNvSpPr/>
          <p:nvPr/>
        </p:nvSpPr>
        <p:spPr>
          <a:xfrm>
            <a:off x="0" y="685800"/>
            <a:ext cx="9144000" cy="54864"/>
          </a:xfrm>
          <a:prstGeom prst="rect">
            <a:avLst/>
          </a:prstGeom>
          <a:solidFill>
            <a:srgbClr val="E74C3C"/>
          </a:solidFill>
          <a:ln w="12700">
            <a:solidFill>
              <a:srgbClr val="E74C3C"/>
            </a:solidFill>
            <a:prstDash val="solid"/>
          </a:ln>
        </p:spPr>
        <p:txBody>
          <a:bodyPr/>
          <a:lstStyle/>
          <a:p>
            <a:endParaRPr lang="en-IN"/>
          </a:p>
        </p:txBody>
      </p:sp>
      <p:sp>
        <p:nvSpPr>
          <p:cNvPr id="4" name="Text 2"/>
          <p:cNvSpPr/>
          <p:nvPr/>
        </p:nvSpPr>
        <p:spPr>
          <a:xfrm>
            <a:off x="320040" y="0"/>
            <a:ext cx="73152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03  Cost Impact at Different Request Volumes</a:t>
            </a:r>
            <a:endParaRPr lang="en-US" sz="2400" dirty="0"/>
          </a:p>
        </p:txBody>
      </p:sp>
      <p:sp>
        <p:nvSpPr>
          <p:cNvPr id="5" name="Text 3"/>
          <p:cNvSpPr/>
          <p:nvPr/>
        </p:nvSpPr>
        <p:spPr>
          <a:xfrm>
            <a:off x="320040" y="0"/>
            <a:ext cx="8503920" cy="685800"/>
          </a:xfrm>
          <a:prstGeom prst="rect">
            <a:avLst/>
          </a:prstGeom>
          <a:noFill/>
          <a:ln/>
        </p:spPr>
        <p:txBody>
          <a:bodyPr wrap="square" lIns="0" tIns="0" rIns="0" bIns="0" rtlCol="0" anchor="ctr"/>
          <a:lstStyle/>
          <a:p>
            <a:pPr marL="0" indent="0" algn="r">
              <a:buNone/>
            </a:pPr>
            <a:r>
              <a:rPr lang="en-US" sz="1200" dirty="0">
                <a:solidFill>
                  <a:srgbClr val="E74C3C"/>
                </a:solidFill>
                <a:latin typeface="Calibri" pitchFamily="34" charset="0"/>
                <a:ea typeface="Calibri" pitchFamily="34" charset="-122"/>
                <a:cs typeface="Calibri" pitchFamily="34" charset="-120"/>
              </a:rPr>
              <a:t>Token cost projection across usage scenarios</a:t>
            </a:r>
            <a:endParaRPr lang="en-US" sz="1200" dirty="0"/>
          </a:p>
        </p:txBody>
      </p:sp>
      <p:sp>
        <p:nvSpPr>
          <p:cNvPr id="6" name="Text 4"/>
          <p:cNvSpPr/>
          <p:nvPr/>
        </p:nvSpPr>
        <p:spPr>
          <a:xfrm>
            <a:off x="0" y="4892040"/>
            <a:ext cx="9144000" cy="246888"/>
          </a:xfrm>
          <a:prstGeom prst="rect">
            <a:avLst/>
          </a:prstGeom>
          <a:noFill/>
          <a:ln/>
        </p:spPr>
        <p:txBody>
          <a:bodyPr wrap="square" lIns="0" tIns="0" rIns="0" bIns="0" rtlCol="0" anchor="ctr"/>
          <a:lstStyle/>
          <a:p>
            <a:pPr marL="0" indent="0" algn="ctr">
              <a:buNone/>
            </a:pPr>
            <a:r>
              <a:rPr lang="en-US" sz="900" dirty="0" err="1">
                <a:solidFill>
                  <a:srgbClr val="95A5A6"/>
                </a:solidFill>
                <a:latin typeface="Calibri" pitchFamily="34" charset="0"/>
                <a:ea typeface="Calibri" pitchFamily="34" charset="-122"/>
                <a:cs typeface="Calibri" pitchFamily="34" charset="-120"/>
              </a:rPr>
              <a:t>NetoMate</a:t>
            </a:r>
            <a:r>
              <a:rPr lang="en-US" sz="900" dirty="0">
                <a:solidFill>
                  <a:srgbClr val="95A5A6"/>
                </a:solidFill>
                <a:latin typeface="Calibri" pitchFamily="34" charset="0"/>
                <a:ea typeface="Calibri" pitchFamily="34" charset="-122"/>
                <a:cs typeface="Calibri" pitchFamily="34" charset="-120"/>
              </a:rPr>
              <a:t> |  Token Optimization</a:t>
            </a:r>
            <a:endParaRPr lang="en-US" sz="900" dirty="0"/>
          </a:p>
        </p:txBody>
      </p:sp>
      <p:sp>
        <p:nvSpPr>
          <p:cNvPr id="7" name="Text 5"/>
          <p:cNvSpPr/>
          <p:nvPr/>
        </p:nvSpPr>
        <p:spPr>
          <a:xfrm>
            <a:off x="320040" y="804672"/>
            <a:ext cx="8503920" cy="256032"/>
          </a:xfrm>
          <a:prstGeom prst="rect">
            <a:avLst/>
          </a:prstGeom>
          <a:noFill/>
          <a:ln/>
        </p:spPr>
        <p:txBody>
          <a:bodyPr wrap="square" lIns="0" tIns="0" rIns="0" bIns="0" rtlCol="0" anchor="ctr"/>
          <a:lstStyle/>
          <a:p>
            <a:pPr marL="0" indent="0">
              <a:buNone/>
            </a:pPr>
            <a:r>
              <a:rPr lang="en-US" sz="1000" i="1" dirty="0">
                <a:solidFill>
                  <a:srgbClr val="95A5A6"/>
                </a:solidFill>
                <a:latin typeface="Calibri" pitchFamily="34" charset="0"/>
                <a:ea typeface="Calibri" pitchFamily="34" charset="-122"/>
                <a:cs typeface="Calibri" pitchFamily="34" charset="-120"/>
              </a:rPr>
              <a:t>Assumptions: ~4,300 tokens/request  |  GPT OSS 120B via OpenRouter  |  ~$0.0012 per 1K tokens (blended input+output)</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20040" y="1115568"/>
          <a:ext cx="9326880" cy="2453640"/>
        </p:xfrm>
        <a:graphic>
          <a:graphicData uri="http://schemas.openxmlformats.org/drawingml/2006/table">
            <a:tbl>
              <a:tblPr/>
              <a:tblGrid>
                <a:gridCol w="15544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1554480">
                  <a:extLst>
                    <a:ext uri="{9D8B030D-6E8A-4147-A177-3AD203B41FA5}">
                      <a16:colId xmlns:a16="http://schemas.microsoft.com/office/drawing/2014/main" val="20005"/>
                    </a:ext>
                  </a:extLst>
                </a:gridCol>
              </a:tblGrid>
              <a:tr h="40233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Daily Requests</a:t>
                      </a:r>
                      <a:endParaRPr lang="en-US" sz="11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Monthly Requests</a:t>
                      </a:r>
                      <a:endParaRPr lang="en-US" sz="11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Monthly Tokens (M)</a:t>
                      </a:r>
                      <a:endParaRPr lang="en-US" sz="11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Current Cost/Month</a:t>
                      </a:r>
                      <a:endParaRPr lang="en-US" sz="11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Optimized Cost/Month</a:t>
                      </a:r>
                      <a:endParaRPr lang="en-US" sz="11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Monthly Saving</a:t>
                      </a:r>
                      <a:endParaRPr lang="en-US" sz="11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0"/>
                  </a:ext>
                </a:extLst>
              </a:tr>
              <a:tr h="402336">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50 (dev/testing)</a:t>
                      </a:r>
                      <a:endParaRPr lang="en-US" sz="11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1,500</a:t>
                      </a:r>
                      <a:endParaRPr lang="en-US" sz="11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6.45M</a:t>
                      </a:r>
                      <a:endParaRPr lang="en-US" sz="11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$7.74</a:t>
                      </a:r>
                      <a:endParaRPr lang="en-US" sz="11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$3.10</a:t>
                      </a:r>
                      <a:endParaRPr lang="en-US" sz="11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$4.64</a:t>
                      </a:r>
                      <a:endParaRPr lang="en-US" sz="11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402336">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200 (small team)</a:t>
                      </a:r>
                      <a:endParaRPr lang="en-US" sz="11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6,000</a:t>
                      </a:r>
                      <a:endParaRPr lang="en-US" sz="11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25.8M</a:t>
                      </a:r>
                      <a:endParaRPr lang="en-US" sz="11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$30.96</a:t>
                      </a:r>
                      <a:endParaRPr lang="en-US" sz="11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$12.38</a:t>
                      </a:r>
                      <a:endParaRPr lang="en-US" sz="11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$18.58</a:t>
                      </a:r>
                      <a:endParaRPr lang="en-US" sz="11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402336">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500 (department)</a:t>
                      </a:r>
                      <a:endParaRPr lang="en-US" sz="11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15,000</a:t>
                      </a:r>
                      <a:endParaRPr lang="en-US" sz="11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64.5M</a:t>
                      </a:r>
                      <a:endParaRPr lang="en-US" sz="11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$77.40</a:t>
                      </a:r>
                      <a:endParaRPr lang="en-US" sz="11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$30.96</a:t>
                      </a:r>
                      <a:endParaRPr lang="en-US" sz="11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$46.44</a:t>
                      </a:r>
                      <a:endParaRPr lang="en-US" sz="11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402336">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1,000 (enterprise)</a:t>
                      </a:r>
                      <a:endParaRPr lang="en-US" sz="11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30,000</a:t>
                      </a:r>
                      <a:endParaRPr lang="en-US" sz="11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129M</a:t>
                      </a:r>
                      <a:endParaRPr lang="en-US" sz="11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$154.80</a:t>
                      </a:r>
                      <a:endParaRPr lang="en-US" sz="11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$61.92</a:t>
                      </a:r>
                      <a:endParaRPr lang="en-US" sz="11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$92.88</a:t>
                      </a:r>
                      <a:endParaRPr lang="en-US" sz="11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402336">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5,000 (scale)</a:t>
                      </a:r>
                      <a:endParaRPr lang="en-US" sz="11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150,000</a:t>
                      </a:r>
                      <a:endParaRPr lang="en-US" sz="11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645M</a:t>
                      </a:r>
                      <a:endParaRPr lang="en-US" sz="11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$774.00</a:t>
                      </a:r>
                      <a:endParaRPr lang="en-US" sz="11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$309.60</a:t>
                      </a:r>
                      <a:endParaRPr lang="en-US" sz="11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$464.40</a:t>
                      </a:r>
                      <a:endParaRPr lang="en-US" sz="11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bl>
          </a:graphicData>
        </a:graphic>
      </p:graphicFrame>
      <p:sp>
        <p:nvSpPr>
          <p:cNvPr id="9" name="Text 6"/>
          <p:cNvSpPr/>
          <p:nvPr/>
        </p:nvSpPr>
        <p:spPr>
          <a:xfrm>
            <a:off x="320040" y="4160520"/>
            <a:ext cx="8503920" cy="256032"/>
          </a:xfrm>
          <a:prstGeom prst="rect">
            <a:avLst/>
          </a:prstGeom>
          <a:noFill/>
          <a:ln/>
        </p:spPr>
        <p:txBody>
          <a:bodyPr wrap="square" lIns="0" tIns="0" rIns="0" bIns="0" rtlCol="0" anchor="ctr"/>
          <a:lstStyle/>
          <a:p>
            <a:pPr marL="0" indent="0">
              <a:buNone/>
            </a:pPr>
            <a:r>
              <a:rPr lang="en-US" sz="1000" i="1" dirty="0">
                <a:solidFill>
                  <a:srgbClr val="95A5A6"/>
                </a:solidFill>
                <a:latin typeface="Calibri" pitchFamily="34" charset="0"/>
                <a:ea typeface="Calibri" pitchFamily="34" charset="-122"/>
                <a:cs typeface="Calibri" pitchFamily="34" charset="-120"/>
              </a:rPr>
              <a:t>Optimized cost assumes 60% token reduction via category-filtered flows + compact serialization + KB gating</a:t>
            </a:r>
            <a:endParaRPr lang="en-US" sz="1000" dirty="0"/>
          </a:p>
        </p:txBody>
      </p:sp>
      <p:graphicFrame>
        <p:nvGraphicFramePr>
          <p:cNvPr id="10" name="Chart 0"/>
          <p:cNvGraphicFramePr/>
          <p:nvPr/>
        </p:nvGraphicFramePr>
        <p:xfrm>
          <a:off x="4754880" y="1371600"/>
          <a:ext cx="4114800" cy="256032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txBody>
          <a:bodyPr/>
          <a:lstStyle/>
          <a:p>
            <a:endParaRPr lang="en-IN"/>
          </a:p>
        </p:txBody>
      </p:sp>
      <p:sp>
        <p:nvSpPr>
          <p:cNvPr id="3" name="Shape 1"/>
          <p:cNvSpPr/>
          <p:nvPr/>
        </p:nvSpPr>
        <p:spPr>
          <a:xfrm>
            <a:off x="0" y="685800"/>
            <a:ext cx="9144000" cy="54864"/>
          </a:xfrm>
          <a:prstGeom prst="rect">
            <a:avLst/>
          </a:prstGeom>
          <a:solidFill>
            <a:srgbClr val="E74C3C"/>
          </a:solidFill>
          <a:ln w="12700">
            <a:solidFill>
              <a:srgbClr val="E74C3C"/>
            </a:solidFill>
            <a:prstDash val="solid"/>
          </a:ln>
        </p:spPr>
        <p:txBody>
          <a:bodyPr/>
          <a:lstStyle/>
          <a:p>
            <a:endParaRPr lang="en-IN"/>
          </a:p>
        </p:txBody>
      </p:sp>
      <p:sp>
        <p:nvSpPr>
          <p:cNvPr id="4" name="Text 2"/>
          <p:cNvSpPr/>
          <p:nvPr/>
        </p:nvSpPr>
        <p:spPr>
          <a:xfrm>
            <a:off x="320040" y="0"/>
            <a:ext cx="73152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04  Key Inefficiencies Identified</a:t>
            </a:r>
            <a:endParaRPr lang="en-US" sz="2400" dirty="0"/>
          </a:p>
        </p:txBody>
      </p:sp>
      <p:sp>
        <p:nvSpPr>
          <p:cNvPr id="5" name="Text 3"/>
          <p:cNvSpPr/>
          <p:nvPr/>
        </p:nvSpPr>
        <p:spPr>
          <a:xfrm>
            <a:off x="320040" y="0"/>
            <a:ext cx="8503920" cy="685800"/>
          </a:xfrm>
          <a:prstGeom prst="rect">
            <a:avLst/>
          </a:prstGeom>
          <a:noFill/>
          <a:ln/>
        </p:spPr>
        <p:txBody>
          <a:bodyPr wrap="square" lIns="0" tIns="0" rIns="0" bIns="0" rtlCol="0" anchor="ctr"/>
          <a:lstStyle/>
          <a:p>
            <a:pPr marL="0" indent="0" algn="r">
              <a:buNone/>
            </a:pPr>
            <a:r>
              <a:rPr lang="en-US" sz="1200" dirty="0">
                <a:solidFill>
                  <a:srgbClr val="E74C3C"/>
                </a:solidFill>
                <a:latin typeface="Calibri" pitchFamily="34" charset="0"/>
                <a:ea typeface="Calibri" pitchFamily="34" charset="-122"/>
                <a:cs typeface="Calibri" pitchFamily="34" charset="-120"/>
              </a:rPr>
              <a:t>Four token waste patterns in the current architecture</a:t>
            </a:r>
            <a:endParaRPr lang="en-US" sz="1200" dirty="0"/>
          </a:p>
        </p:txBody>
      </p:sp>
      <p:sp>
        <p:nvSpPr>
          <p:cNvPr id="6" name="Text 4"/>
          <p:cNvSpPr/>
          <p:nvPr/>
        </p:nvSpPr>
        <p:spPr>
          <a:xfrm>
            <a:off x="0" y="4892040"/>
            <a:ext cx="9144000" cy="246888"/>
          </a:xfrm>
          <a:prstGeom prst="rect">
            <a:avLst/>
          </a:prstGeom>
          <a:noFill/>
          <a:ln/>
        </p:spPr>
        <p:txBody>
          <a:bodyPr wrap="square" lIns="0" tIns="0" rIns="0" bIns="0" rtlCol="0" anchor="ctr"/>
          <a:lstStyle/>
          <a:p>
            <a:pPr marL="0" indent="0" algn="ctr">
              <a:buNone/>
            </a:pPr>
            <a:r>
              <a:rPr lang="en-US" sz="900" dirty="0" err="1">
                <a:solidFill>
                  <a:srgbClr val="95A5A6"/>
                </a:solidFill>
                <a:latin typeface="Calibri" pitchFamily="34" charset="0"/>
                <a:ea typeface="Calibri" pitchFamily="34" charset="-122"/>
                <a:cs typeface="Calibri" pitchFamily="34" charset="-120"/>
              </a:rPr>
              <a:t>NetoMate</a:t>
            </a:r>
            <a:r>
              <a:rPr lang="en-US" sz="900" dirty="0">
                <a:solidFill>
                  <a:srgbClr val="95A5A6"/>
                </a:solidFill>
                <a:latin typeface="Calibri" pitchFamily="34" charset="0"/>
                <a:ea typeface="Calibri" pitchFamily="34" charset="-122"/>
                <a:cs typeface="Calibri" pitchFamily="34" charset="-120"/>
              </a:rPr>
              <a:t>  |  Token Optimization</a:t>
            </a:r>
            <a:endParaRPr lang="en-US" sz="900" dirty="0"/>
          </a:p>
        </p:txBody>
      </p:sp>
      <p:sp>
        <p:nvSpPr>
          <p:cNvPr id="7" name="Shape 5"/>
          <p:cNvSpPr/>
          <p:nvPr/>
        </p:nvSpPr>
        <p:spPr>
          <a:xfrm>
            <a:off x="320040" y="868680"/>
            <a:ext cx="4160520" cy="1874520"/>
          </a:xfrm>
          <a:prstGeom prst="rect">
            <a:avLst/>
          </a:prstGeom>
          <a:solidFill>
            <a:srgbClr val="FFFFFF"/>
          </a:solidFill>
          <a:ln w="10160">
            <a:solidFill>
              <a:srgbClr val="E2EAF4"/>
            </a:solidFill>
            <a:prstDash val="solid"/>
          </a:ln>
          <a:effectLst>
            <a:outerShdw blurRad="101600" dist="38100" dir="8100000" algn="bl" rotWithShape="0">
              <a:srgbClr val="000000">
                <a:alpha val="10000"/>
              </a:srgbClr>
            </a:outerShdw>
          </a:effectLst>
        </p:spPr>
        <p:txBody>
          <a:bodyPr/>
          <a:lstStyle/>
          <a:p>
            <a:endParaRPr lang="en-IN"/>
          </a:p>
        </p:txBody>
      </p:sp>
      <p:sp>
        <p:nvSpPr>
          <p:cNvPr id="8" name="Shape 6"/>
          <p:cNvSpPr/>
          <p:nvPr/>
        </p:nvSpPr>
        <p:spPr>
          <a:xfrm>
            <a:off x="320040" y="868680"/>
            <a:ext cx="475488" cy="1874520"/>
          </a:xfrm>
          <a:prstGeom prst="rect">
            <a:avLst/>
          </a:prstGeom>
          <a:solidFill>
            <a:srgbClr val="E74C3C"/>
          </a:solidFill>
          <a:ln w="12700">
            <a:solidFill>
              <a:srgbClr val="E74C3C"/>
            </a:solidFill>
            <a:prstDash val="solid"/>
          </a:ln>
        </p:spPr>
        <p:txBody>
          <a:bodyPr/>
          <a:lstStyle/>
          <a:p>
            <a:endParaRPr lang="en-IN"/>
          </a:p>
        </p:txBody>
      </p:sp>
      <p:sp>
        <p:nvSpPr>
          <p:cNvPr id="9" name="Text 7"/>
          <p:cNvSpPr/>
          <p:nvPr/>
        </p:nvSpPr>
        <p:spPr>
          <a:xfrm>
            <a:off x="320040" y="1417320"/>
            <a:ext cx="475488"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0" name="Text 8"/>
          <p:cNvSpPr/>
          <p:nvPr/>
        </p:nvSpPr>
        <p:spPr>
          <a:xfrm>
            <a:off x="868680" y="914400"/>
            <a:ext cx="3520440" cy="32004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Full dataset always injected</a:t>
            </a:r>
            <a:endParaRPr lang="en-US" sz="1200" dirty="0"/>
          </a:p>
        </p:txBody>
      </p:sp>
      <p:sp>
        <p:nvSpPr>
          <p:cNvPr id="11" name="Text 9"/>
          <p:cNvSpPr/>
          <p:nvPr/>
        </p:nvSpPr>
        <p:spPr>
          <a:xfrm>
            <a:off x="868680" y="1252728"/>
            <a:ext cx="3520440" cy="914400"/>
          </a:xfrm>
          <a:prstGeom prst="rect">
            <a:avLst/>
          </a:prstGeom>
          <a:noFill/>
          <a:ln/>
        </p:spPr>
        <p:txBody>
          <a:bodyPr wrap="square" lIns="0" tIns="0" rIns="0" bIns="0" rtlCol="0" anchor="ctr"/>
          <a:lstStyle/>
          <a:p>
            <a:pPr marL="0" indent="0">
              <a:buNone/>
            </a:pPr>
            <a:r>
              <a:rPr lang="en-US" sz="1000" dirty="0">
                <a:solidFill>
                  <a:srgbClr val="1C2833"/>
                </a:solidFill>
                <a:latin typeface="Calibri" pitchFamily="34" charset="0"/>
                <a:ea typeface="Calibri" pitchFamily="34" charset="-122"/>
                <a:cs typeface="Calibri" pitchFamily="34" charset="-120"/>
              </a:rPr>
              <a:t>All 50 flows (~2,800 tokens) are sent regardless of flow category. A pure UI test only needs 7 EMS flows (~390 tokens). 43 irrelevant flows are wasted on every Mobile request.</a:t>
            </a:r>
            <a:endParaRPr lang="en-US" sz="1000" dirty="0"/>
          </a:p>
        </p:txBody>
      </p:sp>
      <p:sp>
        <p:nvSpPr>
          <p:cNvPr id="12" name="Shape 10"/>
          <p:cNvSpPr/>
          <p:nvPr/>
        </p:nvSpPr>
        <p:spPr>
          <a:xfrm>
            <a:off x="868680" y="2331720"/>
            <a:ext cx="3520440" cy="292608"/>
          </a:xfrm>
          <a:prstGeom prst="rect">
            <a:avLst/>
          </a:prstGeom>
          <a:solidFill>
            <a:srgbClr val="E74C3C">
              <a:alpha val="15000"/>
            </a:srgbClr>
          </a:solidFill>
          <a:ln w="6350">
            <a:solidFill>
              <a:srgbClr val="E74C3C"/>
            </a:solidFill>
            <a:prstDash val="solid"/>
          </a:ln>
        </p:spPr>
        <p:txBody>
          <a:bodyPr/>
          <a:lstStyle/>
          <a:p>
            <a:endParaRPr lang="en-IN"/>
          </a:p>
        </p:txBody>
      </p:sp>
      <p:sp>
        <p:nvSpPr>
          <p:cNvPr id="13" name="Text 11"/>
          <p:cNvSpPr/>
          <p:nvPr/>
        </p:nvSpPr>
        <p:spPr>
          <a:xfrm>
            <a:off x="868680" y="2331720"/>
            <a:ext cx="3520440" cy="292608"/>
          </a:xfrm>
          <a:prstGeom prst="rect">
            <a:avLst/>
          </a:prstGeom>
          <a:noFill/>
          <a:ln/>
        </p:spPr>
        <p:txBody>
          <a:bodyPr wrap="square" lIns="50800" tIns="50800" rIns="50800" bIns="50800" rtlCol="0" anchor="ctr"/>
          <a:lstStyle/>
          <a:p>
            <a:pPr marL="0" indent="0">
              <a:buNone/>
            </a:pPr>
            <a:r>
              <a:rPr lang="en-US" sz="950" b="1" dirty="0">
                <a:solidFill>
                  <a:srgbClr val="E74C3C"/>
                </a:solidFill>
                <a:latin typeface="Calibri" pitchFamily="34" charset="0"/>
                <a:ea typeface="Calibri" pitchFamily="34" charset="-122"/>
                <a:cs typeface="Calibri" pitchFamily="34" charset="-120"/>
              </a:rPr>
              <a:t>Impact: ~1,200 tokens wasted per mobile/UI query</a:t>
            </a:r>
            <a:endParaRPr lang="en-US" sz="950" dirty="0"/>
          </a:p>
        </p:txBody>
      </p:sp>
      <p:sp>
        <p:nvSpPr>
          <p:cNvPr id="14" name="Shape 12"/>
          <p:cNvSpPr/>
          <p:nvPr/>
        </p:nvSpPr>
        <p:spPr>
          <a:xfrm>
            <a:off x="4663440" y="868680"/>
            <a:ext cx="4160520" cy="1874520"/>
          </a:xfrm>
          <a:prstGeom prst="rect">
            <a:avLst/>
          </a:prstGeom>
          <a:solidFill>
            <a:srgbClr val="FFFFFF"/>
          </a:solidFill>
          <a:ln w="10160">
            <a:solidFill>
              <a:srgbClr val="E2EAF4"/>
            </a:solidFill>
            <a:prstDash val="solid"/>
          </a:ln>
          <a:effectLst>
            <a:outerShdw blurRad="101600" dist="38100" dir="8100000" algn="bl" rotWithShape="0">
              <a:srgbClr val="000000">
                <a:alpha val="10000"/>
              </a:srgbClr>
            </a:outerShdw>
          </a:effectLst>
        </p:spPr>
        <p:txBody>
          <a:bodyPr/>
          <a:lstStyle/>
          <a:p>
            <a:endParaRPr lang="en-IN"/>
          </a:p>
        </p:txBody>
      </p:sp>
      <p:sp>
        <p:nvSpPr>
          <p:cNvPr id="15" name="Shape 13"/>
          <p:cNvSpPr/>
          <p:nvPr/>
        </p:nvSpPr>
        <p:spPr>
          <a:xfrm>
            <a:off x="4663440" y="868680"/>
            <a:ext cx="475488" cy="1874520"/>
          </a:xfrm>
          <a:prstGeom prst="rect">
            <a:avLst/>
          </a:prstGeom>
          <a:solidFill>
            <a:srgbClr val="E67E22"/>
          </a:solidFill>
          <a:ln w="12700">
            <a:solidFill>
              <a:srgbClr val="E67E22"/>
            </a:solidFill>
            <a:prstDash val="solid"/>
          </a:ln>
        </p:spPr>
        <p:txBody>
          <a:bodyPr/>
          <a:lstStyle/>
          <a:p>
            <a:endParaRPr lang="en-IN"/>
          </a:p>
        </p:txBody>
      </p:sp>
      <p:sp>
        <p:nvSpPr>
          <p:cNvPr id="16" name="Text 14"/>
          <p:cNvSpPr/>
          <p:nvPr/>
        </p:nvSpPr>
        <p:spPr>
          <a:xfrm>
            <a:off x="4663440" y="1417320"/>
            <a:ext cx="475488"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7" name="Text 15"/>
          <p:cNvSpPr/>
          <p:nvPr/>
        </p:nvSpPr>
        <p:spPr>
          <a:xfrm>
            <a:off x="5212080" y="914400"/>
            <a:ext cx="3520440" cy="32004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Function KB not yet injected</a:t>
            </a:r>
            <a:endParaRPr lang="en-US" sz="1200" dirty="0"/>
          </a:p>
        </p:txBody>
      </p:sp>
      <p:sp>
        <p:nvSpPr>
          <p:cNvPr id="18" name="Text 16"/>
          <p:cNvSpPr/>
          <p:nvPr/>
        </p:nvSpPr>
        <p:spPr>
          <a:xfrm>
            <a:off x="5212080" y="1252728"/>
            <a:ext cx="3520440" cy="914400"/>
          </a:xfrm>
          <a:prstGeom prst="rect">
            <a:avLst/>
          </a:prstGeom>
          <a:noFill/>
          <a:ln/>
        </p:spPr>
        <p:txBody>
          <a:bodyPr wrap="square" lIns="0" tIns="0" rIns="0" bIns="0" rtlCol="0" anchor="ctr"/>
          <a:lstStyle/>
          <a:p>
            <a:pPr marL="0" indent="0">
              <a:buNone/>
            </a:pPr>
            <a:r>
              <a:rPr lang="en-US" sz="1000" dirty="0">
                <a:solidFill>
                  <a:srgbClr val="1C2833"/>
                </a:solidFill>
                <a:latin typeface="Calibri" pitchFamily="34" charset="0"/>
                <a:ea typeface="Calibri" pitchFamily="34" charset="-122"/>
                <a:cs typeface="Calibri" pitchFamily="34" charset="-120"/>
              </a:rPr>
              <a:t>The 56-function knowledge base (~700 tokens) is not currently passed. When injected, it should be gated — only sent for reasoning-class queries, not deterministic next-step queries.</a:t>
            </a:r>
            <a:endParaRPr lang="en-US" sz="1000" dirty="0"/>
          </a:p>
        </p:txBody>
      </p:sp>
      <p:sp>
        <p:nvSpPr>
          <p:cNvPr id="19" name="Shape 17"/>
          <p:cNvSpPr/>
          <p:nvPr/>
        </p:nvSpPr>
        <p:spPr>
          <a:xfrm>
            <a:off x="5212080" y="2331720"/>
            <a:ext cx="3520440" cy="292608"/>
          </a:xfrm>
          <a:prstGeom prst="rect">
            <a:avLst/>
          </a:prstGeom>
          <a:solidFill>
            <a:srgbClr val="E67E22">
              <a:alpha val="15000"/>
            </a:srgbClr>
          </a:solidFill>
          <a:ln w="6350">
            <a:solidFill>
              <a:srgbClr val="E67E22"/>
            </a:solidFill>
            <a:prstDash val="solid"/>
          </a:ln>
        </p:spPr>
        <p:txBody>
          <a:bodyPr/>
          <a:lstStyle/>
          <a:p>
            <a:endParaRPr lang="en-IN"/>
          </a:p>
        </p:txBody>
      </p:sp>
      <p:sp>
        <p:nvSpPr>
          <p:cNvPr id="20" name="Text 18"/>
          <p:cNvSpPr/>
          <p:nvPr/>
        </p:nvSpPr>
        <p:spPr>
          <a:xfrm>
            <a:off x="5212080" y="2331720"/>
            <a:ext cx="3520440" cy="292608"/>
          </a:xfrm>
          <a:prstGeom prst="rect">
            <a:avLst/>
          </a:prstGeom>
          <a:noFill/>
          <a:ln/>
        </p:spPr>
        <p:txBody>
          <a:bodyPr wrap="square" lIns="50800" tIns="50800" rIns="50800" bIns="50800" rtlCol="0" anchor="ctr"/>
          <a:lstStyle/>
          <a:p>
            <a:pPr marL="0" indent="0">
              <a:buNone/>
            </a:pPr>
            <a:r>
              <a:rPr lang="en-US" sz="950" b="1" dirty="0">
                <a:solidFill>
                  <a:srgbClr val="E67E22"/>
                </a:solidFill>
                <a:latin typeface="Calibri" pitchFamily="34" charset="0"/>
                <a:ea typeface="Calibri" pitchFamily="34" charset="-122"/>
                <a:cs typeface="Calibri" pitchFamily="34" charset="-120"/>
              </a:rPr>
              <a:t>Impact: ~700 tokens at risk if injected naively</a:t>
            </a:r>
            <a:endParaRPr lang="en-US" sz="950" dirty="0"/>
          </a:p>
        </p:txBody>
      </p:sp>
      <p:sp>
        <p:nvSpPr>
          <p:cNvPr id="21" name="Shape 19"/>
          <p:cNvSpPr/>
          <p:nvPr/>
        </p:nvSpPr>
        <p:spPr>
          <a:xfrm>
            <a:off x="320040" y="2880360"/>
            <a:ext cx="4160520" cy="1874520"/>
          </a:xfrm>
          <a:prstGeom prst="rect">
            <a:avLst/>
          </a:prstGeom>
          <a:solidFill>
            <a:srgbClr val="FFFFFF"/>
          </a:solidFill>
          <a:ln w="10160">
            <a:solidFill>
              <a:srgbClr val="E2EAF4"/>
            </a:solidFill>
            <a:prstDash val="solid"/>
          </a:ln>
          <a:effectLst>
            <a:outerShdw blurRad="101600" dist="38100" dir="8100000" algn="bl" rotWithShape="0">
              <a:srgbClr val="000000">
                <a:alpha val="10000"/>
              </a:srgbClr>
            </a:outerShdw>
          </a:effectLst>
        </p:spPr>
        <p:txBody>
          <a:bodyPr/>
          <a:lstStyle/>
          <a:p>
            <a:endParaRPr lang="en-IN"/>
          </a:p>
        </p:txBody>
      </p:sp>
      <p:sp>
        <p:nvSpPr>
          <p:cNvPr id="22" name="Shape 20"/>
          <p:cNvSpPr/>
          <p:nvPr/>
        </p:nvSpPr>
        <p:spPr>
          <a:xfrm>
            <a:off x="320040" y="2880360"/>
            <a:ext cx="475488" cy="1874520"/>
          </a:xfrm>
          <a:prstGeom prst="rect">
            <a:avLst/>
          </a:prstGeom>
          <a:solidFill>
            <a:srgbClr val="8E44AD"/>
          </a:solidFill>
          <a:ln w="12700">
            <a:solidFill>
              <a:srgbClr val="8E44AD"/>
            </a:solidFill>
            <a:prstDash val="solid"/>
          </a:ln>
        </p:spPr>
        <p:txBody>
          <a:bodyPr/>
          <a:lstStyle/>
          <a:p>
            <a:endParaRPr lang="en-IN"/>
          </a:p>
        </p:txBody>
      </p:sp>
      <p:sp>
        <p:nvSpPr>
          <p:cNvPr id="23" name="Text 21"/>
          <p:cNvSpPr/>
          <p:nvPr/>
        </p:nvSpPr>
        <p:spPr>
          <a:xfrm>
            <a:off x="320040" y="3429000"/>
            <a:ext cx="475488"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24" name="Text 22"/>
          <p:cNvSpPr/>
          <p:nvPr/>
        </p:nvSpPr>
        <p:spPr>
          <a:xfrm>
            <a:off x="868680" y="2926080"/>
            <a:ext cx="3520440" cy="32004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Verbose flow serialization</a:t>
            </a:r>
            <a:endParaRPr lang="en-US" sz="1200" dirty="0"/>
          </a:p>
        </p:txBody>
      </p:sp>
      <p:sp>
        <p:nvSpPr>
          <p:cNvPr id="25" name="Text 23"/>
          <p:cNvSpPr/>
          <p:nvPr/>
        </p:nvSpPr>
        <p:spPr>
          <a:xfrm>
            <a:off x="868680" y="3264408"/>
            <a:ext cx="3520440" cy="914400"/>
          </a:xfrm>
          <a:prstGeom prst="rect">
            <a:avLst/>
          </a:prstGeom>
          <a:noFill/>
          <a:ln/>
        </p:spPr>
        <p:txBody>
          <a:bodyPr wrap="square" lIns="0" tIns="0" rIns="0" bIns="0" rtlCol="0" anchor="ctr"/>
          <a:lstStyle/>
          <a:p>
            <a:pPr marL="0" indent="0">
              <a:buNone/>
            </a:pPr>
            <a:r>
              <a:rPr lang="en-US" sz="1000" dirty="0">
                <a:solidFill>
                  <a:srgbClr val="1C2833"/>
                </a:solidFill>
                <a:latin typeface="Calibri" pitchFamily="34" charset="0"/>
                <a:ea typeface="Calibri" pitchFamily="34" charset="-122"/>
                <a:cs typeface="Calibri" pitchFamily="34" charset="-120"/>
              </a:rPr>
              <a:t>Full function names like epcems_capture_performance_monitoring (40 chars) are used verbatim in every flow. Prefix compression (ems:perf_monitor) saves ~35% on flow tokens alone.</a:t>
            </a:r>
            <a:endParaRPr lang="en-US" sz="1000" dirty="0"/>
          </a:p>
        </p:txBody>
      </p:sp>
      <p:sp>
        <p:nvSpPr>
          <p:cNvPr id="26" name="Shape 24"/>
          <p:cNvSpPr/>
          <p:nvPr/>
        </p:nvSpPr>
        <p:spPr>
          <a:xfrm>
            <a:off x="868680" y="4343400"/>
            <a:ext cx="3520440" cy="292608"/>
          </a:xfrm>
          <a:prstGeom prst="rect">
            <a:avLst/>
          </a:prstGeom>
          <a:solidFill>
            <a:srgbClr val="8E44AD">
              <a:alpha val="15000"/>
            </a:srgbClr>
          </a:solidFill>
          <a:ln w="6350">
            <a:solidFill>
              <a:srgbClr val="8E44AD"/>
            </a:solidFill>
            <a:prstDash val="solid"/>
          </a:ln>
        </p:spPr>
        <p:txBody>
          <a:bodyPr/>
          <a:lstStyle/>
          <a:p>
            <a:endParaRPr lang="en-IN"/>
          </a:p>
        </p:txBody>
      </p:sp>
      <p:sp>
        <p:nvSpPr>
          <p:cNvPr id="27" name="Text 25"/>
          <p:cNvSpPr/>
          <p:nvPr/>
        </p:nvSpPr>
        <p:spPr>
          <a:xfrm>
            <a:off x="868680" y="4343400"/>
            <a:ext cx="3520440" cy="292608"/>
          </a:xfrm>
          <a:prstGeom prst="rect">
            <a:avLst/>
          </a:prstGeom>
          <a:noFill/>
          <a:ln/>
        </p:spPr>
        <p:txBody>
          <a:bodyPr wrap="square" lIns="50800" tIns="50800" rIns="50800" bIns="50800" rtlCol="0" anchor="ctr"/>
          <a:lstStyle/>
          <a:p>
            <a:pPr marL="0" indent="0">
              <a:buNone/>
            </a:pPr>
            <a:r>
              <a:rPr lang="en-US" sz="950" b="1" dirty="0">
                <a:solidFill>
                  <a:srgbClr val="8E44AD"/>
                </a:solidFill>
                <a:latin typeface="Calibri" pitchFamily="34" charset="0"/>
                <a:ea typeface="Calibri" pitchFamily="34" charset="-122"/>
                <a:cs typeface="Calibri" pitchFamily="34" charset="-120"/>
              </a:rPr>
              <a:t>Impact: ~900 tokens reducible via compression</a:t>
            </a:r>
            <a:endParaRPr lang="en-US" sz="950" dirty="0"/>
          </a:p>
        </p:txBody>
      </p:sp>
      <p:sp>
        <p:nvSpPr>
          <p:cNvPr id="28" name="Shape 26"/>
          <p:cNvSpPr/>
          <p:nvPr/>
        </p:nvSpPr>
        <p:spPr>
          <a:xfrm>
            <a:off x="4663440" y="2880360"/>
            <a:ext cx="4160520" cy="1874520"/>
          </a:xfrm>
          <a:prstGeom prst="rect">
            <a:avLst/>
          </a:prstGeom>
          <a:solidFill>
            <a:srgbClr val="FFFFFF"/>
          </a:solidFill>
          <a:ln w="10160">
            <a:solidFill>
              <a:srgbClr val="E2EAF4"/>
            </a:solidFill>
            <a:prstDash val="solid"/>
          </a:ln>
          <a:effectLst>
            <a:outerShdw blurRad="101600" dist="38100" dir="8100000" algn="bl" rotWithShape="0">
              <a:srgbClr val="000000">
                <a:alpha val="10000"/>
              </a:srgbClr>
            </a:outerShdw>
          </a:effectLst>
        </p:spPr>
        <p:txBody>
          <a:bodyPr/>
          <a:lstStyle/>
          <a:p>
            <a:endParaRPr lang="en-IN"/>
          </a:p>
        </p:txBody>
      </p:sp>
      <p:sp>
        <p:nvSpPr>
          <p:cNvPr id="29" name="Shape 27"/>
          <p:cNvSpPr/>
          <p:nvPr/>
        </p:nvSpPr>
        <p:spPr>
          <a:xfrm>
            <a:off x="4663440" y="2880360"/>
            <a:ext cx="475488" cy="1874520"/>
          </a:xfrm>
          <a:prstGeom prst="rect">
            <a:avLst/>
          </a:prstGeom>
          <a:solidFill>
            <a:srgbClr val="1B4F72"/>
          </a:solidFill>
          <a:ln w="12700">
            <a:solidFill>
              <a:srgbClr val="1B4F72"/>
            </a:solidFill>
            <a:prstDash val="solid"/>
          </a:ln>
        </p:spPr>
        <p:txBody>
          <a:bodyPr/>
          <a:lstStyle/>
          <a:p>
            <a:endParaRPr lang="en-IN"/>
          </a:p>
        </p:txBody>
      </p:sp>
      <p:sp>
        <p:nvSpPr>
          <p:cNvPr id="30" name="Text 28"/>
          <p:cNvSpPr/>
          <p:nvPr/>
        </p:nvSpPr>
        <p:spPr>
          <a:xfrm>
            <a:off x="4663440" y="3429000"/>
            <a:ext cx="475488"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31" name="Text 29"/>
          <p:cNvSpPr/>
          <p:nvPr/>
        </p:nvSpPr>
        <p:spPr>
          <a:xfrm>
            <a:off x="5212080" y="2926080"/>
            <a:ext cx="3520440" cy="32004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Requesting 5 outputs, returning 3</a:t>
            </a:r>
            <a:endParaRPr lang="en-US" sz="1200" dirty="0"/>
          </a:p>
        </p:txBody>
      </p:sp>
      <p:sp>
        <p:nvSpPr>
          <p:cNvPr id="32" name="Text 30"/>
          <p:cNvSpPr/>
          <p:nvPr/>
        </p:nvSpPr>
        <p:spPr>
          <a:xfrm>
            <a:off x="5212080" y="3264408"/>
            <a:ext cx="3520440" cy="914400"/>
          </a:xfrm>
          <a:prstGeom prst="rect">
            <a:avLst/>
          </a:prstGeom>
          <a:noFill/>
          <a:ln/>
        </p:spPr>
        <p:txBody>
          <a:bodyPr wrap="square" lIns="0" tIns="0" rIns="0" bIns="0" rtlCol="0" anchor="ctr"/>
          <a:lstStyle/>
          <a:p>
            <a:pPr marL="0" indent="0">
              <a:buNone/>
            </a:pPr>
            <a:r>
              <a:rPr lang="en-US" sz="1000" dirty="0">
                <a:solidFill>
                  <a:srgbClr val="1C2833"/>
                </a:solidFill>
                <a:latin typeface="Calibri" pitchFamily="34" charset="0"/>
                <a:ea typeface="Calibri" pitchFamily="34" charset="-122"/>
                <a:cs typeface="Calibri" pitchFamily="34" charset="-120"/>
              </a:rPr>
              <a:t>The prompt asks for 5 candidates to give post-processing room to filter. The 4th and 5th candidates (~80 tokens) are discarded. Output format verbosity adds unnecessary overhead.</a:t>
            </a:r>
            <a:endParaRPr lang="en-US" sz="1000" dirty="0"/>
          </a:p>
        </p:txBody>
      </p:sp>
      <p:sp>
        <p:nvSpPr>
          <p:cNvPr id="33" name="Shape 31"/>
          <p:cNvSpPr/>
          <p:nvPr/>
        </p:nvSpPr>
        <p:spPr>
          <a:xfrm>
            <a:off x="5212080" y="4343400"/>
            <a:ext cx="3520440" cy="292608"/>
          </a:xfrm>
          <a:prstGeom prst="rect">
            <a:avLst/>
          </a:prstGeom>
          <a:solidFill>
            <a:srgbClr val="1B4F72">
              <a:alpha val="15000"/>
            </a:srgbClr>
          </a:solidFill>
          <a:ln w="6350">
            <a:solidFill>
              <a:srgbClr val="1B4F72"/>
            </a:solidFill>
            <a:prstDash val="solid"/>
          </a:ln>
        </p:spPr>
        <p:txBody>
          <a:bodyPr/>
          <a:lstStyle/>
          <a:p>
            <a:endParaRPr lang="en-IN"/>
          </a:p>
        </p:txBody>
      </p:sp>
      <p:sp>
        <p:nvSpPr>
          <p:cNvPr id="34" name="Text 32"/>
          <p:cNvSpPr/>
          <p:nvPr/>
        </p:nvSpPr>
        <p:spPr>
          <a:xfrm>
            <a:off x="5212080" y="4343400"/>
            <a:ext cx="3520440" cy="292608"/>
          </a:xfrm>
          <a:prstGeom prst="rect">
            <a:avLst/>
          </a:prstGeom>
          <a:noFill/>
          <a:ln/>
        </p:spPr>
        <p:txBody>
          <a:bodyPr wrap="square" lIns="50800" tIns="50800" rIns="50800" bIns="50800" rtlCol="0" anchor="ctr"/>
          <a:lstStyle/>
          <a:p>
            <a:pPr marL="0" indent="0">
              <a:buNone/>
            </a:pPr>
            <a:r>
              <a:rPr lang="en-US" sz="950" b="1" dirty="0">
                <a:solidFill>
                  <a:srgbClr val="1B4F72"/>
                </a:solidFill>
                <a:latin typeface="Calibri" pitchFamily="34" charset="0"/>
                <a:ea typeface="Calibri" pitchFamily="34" charset="-122"/>
                <a:cs typeface="Calibri" pitchFamily="34" charset="-120"/>
              </a:rPr>
              <a:t>Impact: ~80–120 output tokens wasted per request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txBody>
          <a:bodyPr/>
          <a:lstStyle/>
          <a:p>
            <a:endParaRPr lang="en-IN"/>
          </a:p>
        </p:txBody>
      </p:sp>
      <p:sp>
        <p:nvSpPr>
          <p:cNvPr id="3" name="Shape 1"/>
          <p:cNvSpPr/>
          <p:nvPr/>
        </p:nvSpPr>
        <p:spPr>
          <a:xfrm>
            <a:off x="0" y="685800"/>
            <a:ext cx="9144000" cy="54864"/>
          </a:xfrm>
          <a:prstGeom prst="rect">
            <a:avLst/>
          </a:prstGeom>
          <a:solidFill>
            <a:srgbClr val="1ABC9C"/>
          </a:solidFill>
          <a:ln w="12700">
            <a:solidFill>
              <a:srgbClr val="1ABC9C"/>
            </a:solidFill>
            <a:prstDash val="solid"/>
          </a:ln>
        </p:spPr>
        <p:txBody>
          <a:bodyPr/>
          <a:lstStyle/>
          <a:p>
            <a:endParaRPr lang="en-IN"/>
          </a:p>
        </p:txBody>
      </p:sp>
      <p:sp>
        <p:nvSpPr>
          <p:cNvPr id="4" name="Text 2"/>
          <p:cNvSpPr/>
          <p:nvPr/>
        </p:nvSpPr>
        <p:spPr>
          <a:xfrm>
            <a:off x="320040" y="0"/>
            <a:ext cx="73152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05  Token Reduction Strategy Roadmap</a:t>
            </a:r>
            <a:endParaRPr lang="en-US" sz="2400" dirty="0"/>
          </a:p>
        </p:txBody>
      </p:sp>
      <p:sp>
        <p:nvSpPr>
          <p:cNvPr id="5" name="Text 3"/>
          <p:cNvSpPr/>
          <p:nvPr/>
        </p:nvSpPr>
        <p:spPr>
          <a:xfrm>
            <a:off x="320040" y="0"/>
            <a:ext cx="8503920" cy="685800"/>
          </a:xfrm>
          <a:prstGeom prst="rect">
            <a:avLst/>
          </a:prstGeom>
          <a:noFill/>
          <a:ln/>
        </p:spPr>
        <p:txBody>
          <a:bodyPr wrap="square" lIns="0" tIns="0" rIns="0" bIns="0" rtlCol="0" anchor="ctr"/>
          <a:lstStyle/>
          <a:p>
            <a:pPr marL="0" indent="0" algn="r">
              <a:buNone/>
            </a:pPr>
            <a:r>
              <a:rPr lang="en-US" sz="1200" dirty="0">
                <a:solidFill>
                  <a:srgbClr val="1ABC9C"/>
                </a:solidFill>
                <a:latin typeface="Calibri" pitchFamily="34" charset="0"/>
                <a:ea typeface="Calibri" pitchFamily="34" charset="-122"/>
                <a:cs typeface="Calibri" pitchFamily="34" charset="-120"/>
              </a:rPr>
              <a:t>Phased optimization plan by effort and impact</a:t>
            </a:r>
            <a:endParaRPr lang="en-US" sz="1200" dirty="0"/>
          </a:p>
        </p:txBody>
      </p:sp>
      <p:sp>
        <p:nvSpPr>
          <p:cNvPr id="6" name="Text 4"/>
          <p:cNvSpPr/>
          <p:nvPr/>
        </p:nvSpPr>
        <p:spPr>
          <a:xfrm>
            <a:off x="0" y="4892040"/>
            <a:ext cx="9144000" cy="246888"/>
          </a:xfrm>
          <a:prstGeom prst="rect">
            <a:avLst/>
          </a:prstGeom>
          <a:noFill/>
          <a:ln/>
        </p:spPr>
        <p:txBody>
          <a:bodyPr wrap="square" lIns="0" tIns="0" rIns="0" bIns="0" rtlCol="0" anchor="ctr"/>
          <a:lstStyle/>
          <a:p>
            <a:pPr marL="0" indent="0" algn="ctr">
              <a:buNone/>
            </a:pPr>
            <a:r>
              <a:rPr lang="en-US" sz="900" dirty="0" err="1">
                <a:solidFill>
                  <a:srgbClr val="95A5A6"/>
                </a:solidFill>
                <a:latin typeface="Calibri" pitchFamily="34" charset="0"/>
                <a:ea typeface="Calibri" pitchFamily="34" charset="-122"/>
                <a:cs typeface="Calibri" pitchFamily="34" charset="-120"/>
              </a:rPr>
              <a:t>NetoMate</a:t>
            </a:r>
            <a:r>
              <a:rPr lang="en-US" sz="900" dirty="0">
                <a:solidFill>
                  <a:srgbClr val="95A5A6"/>
                </a:solidFill>
                <a:latin typeface="Calibri" pitchFamily="34" charset="0"/>
                <a:ea typeface="Calibri" pitchFamily="34" charset="-122"/>
                <a:cs typeface="Calibri" pitchFamily="34" charset="-120"/>
              </a:rPr>
              <a:t>  |  Token Optimization</a:t>
            </a:r>
            <a:endParaRPr lang="en-US" sz="900" dirty="0"/>
          </a:p>
        </p:txBody>
      </p:sp>
      <p:sp>
        <p:nvSpPr>
          <p:cNvPr id="7" name="Shape 5"/>
          <p:cNvSpPr/>
          <p:nvPr/>
        </p:nvSpPr>
        <p:spPr>
          <a:xfrm>
            <a:off x="320040" y="868680"/>
            <a:ext cx="2743200" cy="3840480"/>
          </a:xfrm>
          <a:prstGeom prst="rect">
            <a:avLst/>
          </a:prstGeom>
          <a:solidFill>
            <a:srgbClr val="FFFFFF"/>
          </a:solidFill>
          <a:ln w="10160">
            <a:solidFill>
              <a:srgbClr val="E2EAF4"/>
            </a:solidFill>
            <a:prstDash val="solid"/>
          </a:ln>
          <a:effectLst>
            <a:outerShdw blurRad="101600" dist="38100" dir="8100000" algn="bl" rotWithShape="0">
              <a:srgbClr val="000000">
                <a:alpha val="10000"/>
              </a:srgbClr>
            </a:outerShdw>
          </a:effectLst>
        </p:spPr>
        <p:txBody>
          <a:bodyPr/>
          <a:lstStyle/>
          <a:p>
            <a:endParaRPr lang="en-IN"/>
          </a:p>
        </p:txBody>
      </p:sp>
      <p:sp>
        <p:nvSpPr>
          <p:cNvPr id="8" name="Shape 6"/>
          <p:cNvSpPr/>
          <p:nvPr/>
        </p:nvSpPr>
        <p:spPr>
          <a:xfrm>
            <a:off x="320040" y="868680"/>
            <a:ext cx="2743200" cy="502920"/>
          </a:xfrm>
          <a:prstGeom prst="rect">
            <a:avLst/>
          </a:prstGeom>
          <a:solidFill>
            <a:srgbClr val="27AE60"/>
          </a:solidFill>
          <a:ln w="12700">
            <a:solidFill>
              <a:srgbClr val="27AE60"/>
            </a:solidFill>
            <a:prstDash val="solid"/>
          </a:ln>
        </p:spPr>
        <p:txBody>
          <a:bodyPr/>
          <a:lstStyle/>
          <a:p>
            <a:endParaRPr lang="en-IN"/>
          </a:p>
        </p:txBody>
      </p:sp>
      <p:sp>
        <p:nvSpPr>
          <p:cNvPr id="9" name="Text 7"/>
          <p:cNvSpPr/>
          <p:nvPr/>
        </p:nvSpPr>
        <p:spPr>
          <a:xfrm>
            <a:off x="320040" y="868680"/>
            <a:ext cx="10972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Phase 1</a:t>
            </a:r>
            <a:endParaRPr lang="en-US" sz="1300" dirty="0"/>
          </a:p>
        </p:txBody>
      </p:sp>
      <p:sp>
        <p:nvSpPr>
          <p:cNvPr id="10" name="Text 8"/>
          <p:cNvSpPr/>
          <p:nvPr/>
        </p:nvSpPr>
        <p:spPr>
          <a:xfrm>
            <a:off x="1417320" y="868680"/>
            <a:ext cx="1645920" cy="502920"/>
          </a:xfrm>
          <a:prstGeom prst="rect">
            <a:avLst/>
          </a:prstGeom>
          <a:noFill/>
          <a:ln/>
        </p:spPr>
        <p:txBody>
          <a:bodyPr wrap="square" lIns="76200" tIns="76200" rIns="76200" bIns="76200" rtlCol="0" anchor="ctr"/>
          <a:lstStyle/>
          <a:p>
            <a:pPr marL="0" indent="0" algn="r">
              <a:buNone/>
            </a:pPr>
            <a:r>
              <a:rPr lang="en-US" sz="1100" dirty="0">
                <a:solidFill>
                  <a:srgbClr val="FFFFFF"/>
                </a:solidFill>
                <a:latin typeface="Calibri" pitchFamily="34" charset="0"/>
                <a:ea typeface="Calibri" pitchFamily="34" charset="-122"/>
                <a:cs typeface="Calibri" pitchFamily="34" charset="-120"/>
              </a:rPr>
              <a:t>Week 1</a:t>
            </a:r>
            <a:endParaRPr lang="en-US" sz="1100" dirty="0"/>
          </a:p>
        </p:txBody>
      </p:sp>
      <p:sp>
        <p:nvSpPr>
          <p:cNvPr id="11" name="Text 9"/>
          <p:cNvSpPr/>
          <p:nvPr/>
        </p:nvSpPr>
        <p:spPr>
          <a:xfrm>
            <a:off x="320040" y="1389888"/>
            <a:ext cx="2743200" cy="274320"/>
          </a:xfrm>
          <a:prstGeom prst="rect">
            <a:avLst/>
          </a:prstGeom>
          <a:noFill/>
          <a:ln/>
        </p:spPr>
        <p:txBody>
          <a:bodyPr wrap="square" lIns="0" tIns="0" rIns="0" bIns="0"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Quick wins</a:t>
            </a:r>
            <a:endParaRPr lang="en-US" sz="1200" dirty="0"/>
          </a:p>
        </p:txBody>
      </p:sp>
      <p:sp>
        <p:nvSpPr>
          <p:cNvPr id="12" name="Text 10"/>
          <p:cNvSpPr/>
          <p:nvPr/>
        </p:nvSpPr>
        <p:spPr>
          <a:xfrm>
            <a:off x="429768" y="1719072"/>
            <a:ext cx="2514600" cy="502920"/>
          </a:xfrm>
          <a:prstGeom prst="rect">
            <a:avLst/>
          </a:prstGeom>
          <a:noFill/>
          <a:ln/>
        </p:spPr>
        <p:txBody>
          <a:bodyPr wrap="square" lIns="0" tIns="0" rIns="0" bIns="0" rtlCol="0" anchor="ctr"/>
          <a:lstStyle/>
          <a:p>
            <a:pPr marL="0" indent="0">
              <a:buNone/>
            </a:pPr>
            <a:r>
              <a:rPr lang="en-US" sz="1000" dirty="0">
                <a:solidFill>
                  <a:srgbClr val="1C2833"/>
                </a:solidFill>
                <a:latin typeface="Calibri" pitchFamily="34" charset="0"/>
                <a:ea typeface="Calibri" pitchFamily="34" charset="-122"/>
                <a:cs typeface="Calibri" pitchFamily="34" charset="-120"/>
              </a:rPr>
              <a:t>• Category-filtered flow injection (UI → 7 flows, Mobile → 21 flows)</a:t>
            </a:r>
            <a:endParaRPr lang="en-US" sz="1000" dirty="0"/>
          </a:p>
        </p:txBody>
      </p:sp>
      <p:sp>
        <p:nvSpPr>
          <p:cNvPr id="13" name="Text 11"/>
          <p:cNvSpPr/>
          <p:nvPr/>
        </p:nvSpPr>
        <p:spPr>
          <a:xfrm>
            <a:off x="429768" y="2267712"/>
            <a:ext cx="2514600" cy="502920"/>
          </a:xfrm>
          <a:prstGeom prst="rect">
            <a:avLst/>
          </a:prstGeom>
          <a:noFill/>
          <a:ln/>
        </p:spPr>
        <p:txBody>
          <a:bodyPr wrap="square" lIns="0" tIns="0" rIns="0" bIns="0" rtlCol="0" anchor="ctr"/>
          <a:lstStyle/>
          <a:p>
            <a:pPr marL="0" indent="0">
              <a:buNone/>
            </a:pPr>
            <a:r>
              <a:rPr lang="en-US" sz="1000" dirty="0">
                <a:solidFill>
                  <a:srgbClr val="1C2833"/>
                </a:solidFill>
                <a:latin typeface="Calibri" pitchFamily="34" charset="0"/>
                <a:ea typeface="Calibri" pitchFamily="34" charset="-122"/>
                <a:cs typeface="Calibri" pitchFamily="34" charset="-120"/>
              </a:rPr>
              <a:t>• Compact prefix serialization  (ems:, mo:, pc: shorthands)</a:t>
            </a:r>
            <a:endParaRPr lang="en-US" sz="1000" dirty="0"/>
          </a:p>
        </p:txBody>
      </p:sp>
      <p:sp>
        <p:nvSpPr>
          <p:cNvPr id="14" name="Text 12"/>
          <p:cNvSpPr/>
          <p:nvPr/>
        </p:nvSpPr>
        <p:spPr>
          <a:xfrm>
            <a:off x="429768" y="2816352"/>
            <a:ext cx="2514600" cy="502920"/>
          </a:xfrm>
          <a:prstGeom prst="rect">
            <a:avLst/>
          </a:prstGeom>
          <a:noFill/>
          <a:ln/>
        </p:spPr>
        <p:txBody>
          <a:bodyPr wrap="square" lIns="0" tIns="0" rIns="0" bIns="0" rtlCol="0" anchor="ctr"/>
          <a:lstStyle/>
          <a:p>
            <a:pPr marL="0" indent="0">
              <a:buNone/>
            </a:pPr>
            <a:r>
              <a:rPr lang="en-US" sz="1000" dirty="0">
                <a:solidFill>
                  <a:srgbClr val="1C2833"/>
                </a:solidFill>
                <a:latin typeface="Calibri" pitchFamily="34" charset="0"/>
                <a:ea typeface="Calibri" pitchFamily="34" charset="-122"/>
                <a:cs typeface="Calibri" pitchFamily="34" charset="-120"/>
              </a:rPr>
              <a:t>• Tighten prompt template  (remove verbose rules)</a:t>
            </a:r>
            <a:endParaRPr lang="en-US" sz="1000" dirty="0"/>
          </a:p>
        </p:txBody>
      </p:sp>
      <p:sp>
        <p:nvSpPr>
          <p:cNvPr id="15" name="Shape 13"/>
          <p:cNvSpPr/>
          <p:nvPr/>
        </p:nvSpPr>
        <p:spPr>
          <a:xfrm>
            <a:off x="320040" y="4315968"/>
            <a:ext cx="2743200" cy="347472"/>
          </a:xfrm>
          <a:prstGeom prst="rect">
            <a:avLst/>
          </a:prstGeom>
          <a:solidFill>
            <a:srgbClr val="27AE60">
              <a:alpha val="20000"/>
            </a:srgbClr>
          </a:solidFill>
          <a:ln w="6350">
            <a:solidFill>
              <a:srgbClr val="27AE60"/>
            </a:solidFill>
            <a:prstDash val="solid"/>
          </a:ln>
        </p:spPr>
        <p:txBody>
          <a:bodyPr/>
          <a:lstStyle/>
          <a:p>
            <a:endParaRPr lang="en-IN"/>
          </a:p>
        </p:txBody>
      </p:sp>
      <p:sp>
        <p:nvSpPr>
          <p:cNvPr id="16" name="Text 14"/>
          <p:cNvSpPr/>
          <p:nvPr/>
        </p:nvSpPr>
        <p:spPr>
          <a:xfrm>
            <a:off x="320040" y="4315968"/>
            <a:ext cx="2743200" cy="347472"/>
          </a:xfrm>
          <a:prstGeom prst="rect">
            <a:avLst/>
          </a:prstGeom>
          <a:noFill/>
          <a:ln/>
        </p:spPr>
        <p:txBody>
          <a:bodyPr wrap="square" lIns="0" tIns="0" rIns="0" bIns="0" rtlCol="0" anchor="ctr"/>
          <a:lstStyle/>
          <a:p>
            <a:pPr marL="0" indent="0" algn="ctr">
              <a:buNone/>
            </a:pPr>
            <a:r>
              <a:rPr lang="en-US" sz="1100" b="1" dirty="0">
                <a:solidFill>
                  <a:srgbClr val="27AE60"/>
                </a:solidFill>
                <a:latin typeface="Calibri" pitchFamily="34" charset="0"/>
                <a:ea typeface="Calibri" pitchFamily="34" charset="-122"/>
                <a:cs typeface="Calibri" pitchFamily="34" charset="-120"/>
              </a:rPr>
              <a:t>~55% token reduction</a:t>
            </a:r>
            <a:endParaRPr lang="en-US" sz="1100" dirty="0"/>
          </a:p>
        </p:txBody>
      </p:sp>
      <p:sp>
        <p:nvSpPr>
          <p:cNvPr id="17" name="Text 15"/>
          <p:cNvSpPr/>
          <p:nvPr/>
        </p:nvSpPr>
        <p:spPr>
          <a:xfrm>
            <a:off x="3081528" y="2468880"/>
            <a:ext cx="118872" cy="365760"/>
          </a:xfrm>
          <a:prstGeom prst="rect">
            <a:avLst/>
          </a:prstGeom>
          <a:noFill/>
          <a:ln/>
        </p:spPr>
        <p:txBody>
          <a:bodyPr wrap="square" lIns="0" tIns="0" rIns="0" bIns="0" rtlCol="0" anchor="ctr"/>
          <a:lstStyle/>
          <a:p>
            <a:pPr marL="0" indent="0" algn="ctr">
              <a:buNone/>
            </a:pPr>
            <a:r>
              <a:rPr lang="en-US" sz="1800" dirty="0">
                <a:solidFill>
                  <a:srgbClr val="95A5A6"/>
                </a:solidFill>
              </a:rPr>
              <a:t>→</a:t>
            </a:r>
            <a:endParaRPr lang="en-US" sz="1800" dirty="0"/>
          </a:p>
        </p:txBody>
      </p:sp>
      <p:sp>
        <p:nvSpPr>
          <p:cNvPr id="18" name="Shape 16"/>
          <p:cNvSpPr/>
          <p:nvPr/>
        </p:nvSpPr>
        <p:spPr>
          <a:xfrm>
            <a:off x="3200400" y="868680"/>
            <a:ext cx="2743200" cy="3840480"/>
          </a:xfrm>
          <a:prstGeom prst="rect">
            <a:avLst/>
          </a:prstGeom>
          <a:solidFill>
            <a:srgbClr val="FFFFFF"/>
          </a:solidFill>
          <a:ln w="10160">
            <a:solidFill>
              <a:srgbClr val="E2EAF4"/>
            </a:solidFill>
            <a:prstDash val="solid"/>
          </a:ln>
          <a:effectLst>
            <a:outerShdw blurRad="101600" dist="38100" dir="8100000" algn="bl" rotWithShape="0">
              <a:srgbClr val="000000">
                <a:alpha val="10000"/>
              </a:srgbClr>
            </a:outerShdw>
          </a:effectLst>
        </p:spPr>
        <p:txBody>
          <a:bodyPr/>
          <a:lstStyle/>
          <a:p>
            <a:endParaRPr lang="en-IN"/>
          </a:p>
        </p:txBody>
      </p:sp>
      <p:sp>
        <p:nvSpPr>
          <p:cNvPr id="19" name="Shape 17"/>
          <p:cNvSpPr/>
          <p:nvPr/>
        </p:nvSpPr>
        <p:spPr>
          <a:xfrm>
            <a:off x="3200400" y="868680"/>
            <a:ext cx="2743200" cy="502920"/>
          </a:xfrm>
          <a:prstGeom prst="rect">
            <a:avLst/>
          </a:prstGeom>
          <a:solidFill>
            <a:srgbClr val="E67E22"/>
          </a:solidFill>
          <a:ln w="12700">
            <a:solidFill>
              <a:srgbClr val="E67E22"/>
            </a:solidFill>
            <a:prstDash val="solid"/>
          </a:ln>
        </p:spPr>
        <p:txBody>
          <a:bodyPr/>
          <a:lstStyle/>
          <a:p>
            <a:endParaRPr lang="en-IN"/>
          </a:p>
        </p:txBody>
      </p:sp>
      <p:sp>
        <p:nvSpPr>
          <p:cNvPr id="20" name="Text 18"/>
          <p:cNvSpPr/>
          <p:nvPr/>
        </p:nvSpPr>
        <p:spPr>
          <a:xfrm>
            <a:off x="3200400" y="868680"/>
            <a:ext cx="10972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Phase 2</a:t>
            </a:r>
            <a:endParaRPr lang="en-US" sz="1300" dirty="0"/>
          </a:p>
        </p:txBody>
      </p:sp>
      <p:sp>
        <p:nvSpPr>
          <p:cNvPr id="21" name="Text 19"/>
          <p:cNvSpPr/>
          <p:nvPr/>
        </p:nvSpPr>
        <p:spPr>
          <a:xfrm>
            <a:off x="4297680" y="868680"/>
            <a:ext cx="1645920" cy="502920"/>
          </a:xfrm>
          <a:prstGeom prst="rect">
            <a:avLst/>
          </a:prstGeom>
          <a:noFill/>
          <a:ln/>
        </p:spPr>
        <p:txBody>
          <a:bodyPr wrap="square" lIns="76200" tIns="76200" rIns="76200" bIns="76200" rtlCol="0" anchor="ctr"/>
          <a:lstStyle/>
          <a:p>
            <a:pPr marL="0" indent="0" algn="r">
              <a:buNone/>
            </a:pPr>
            <a:r>
              <a:rPr lang="en-US" sz="1100" dirty="0">
                <a:solidFill>
                  <a:srgbClr val="FFFFFF"/>
                </a:solidFill>
                <a:latin typeface="Calibri" pitchFamily="34" charset="0"/>
                <a:ea typeface="Calibri" pitchFamily="34" charset="-122"/>
                <a:cs typeface="Calibri" pitchFamily="34" charset="-120"/>
              </a:rPr>
              <a:t>Week 2</a:t>
            </a:r>
            <a:endParaRPr lang="en-US" sz="1100" dirty="0"/>
          </a:p>
        </p:txBody>
      </p:sp>
      <p:sp>
        <p:nvSpPr>
          <p:cNvPr id="22" name="Text 20"/>
          <p:cNvSpPr/>
          <p:nvPr/>
        </p:nvSpPr>
        <p:spPr>
          <a:xfrm>
            <a:off x="3200400" y="1389888"/>
            <a:ext cx="2743200" cy="274320"/>
          </a:xfrm>
          <a:prstGeom prst="rect">
            <a:avLst/>
          </a:prstGeom>
          <a:noFill/>
          <a:ln/>
        </p:spPr>
        <p:txBody>
          <a:bodyPr wrap="square" lIns="0" tIns="0" rIns="0" bIns="0"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Smart injection</a:t>
            </a:r>
            <a:endParaRPr lang="en-US" sz="1200" dirty="0"/>
          </a:p>
        </p:txBody>
      </p:sp>
      <p:sp>
        <p:nvSpPr>
          <p:cNvPr id="23" name="Text 21"/>
          <p:cNvSpPr/>
          <p:nvPr/>
        </p:nvSpPr>
        <p:spPr>
          <a:xfrm>
            <a:off x="3310128" y="1719072"/>
            <a:ext cx="2514600" cy="502920"/>
          </a:xfrm>
          <a:prstGeom prst="rect">
            <a:avLst/>
          </a:prstGeom>
          <a:noFill/>
          <a:ln/>
        </p:spPr>
        <p:txBody>
          <a:bodyPr wrap="square" lIns="0" tIns="0" rIns="0" bIns="0" rtlCol="0" anchor="ctr"/>
          <a:lstStyle/>
          <a:p>
            <a:pPr marL="0" indent="0">
              <a:buNone/>
            </a:pPr>
            <a:r>
              <a:rPr lang="en-US" sz="1000" dirty="0">
                <a:solidFill>
                  <a:srgbClr val="1C2833"/>
                </a:solidFill>
                <a:latin typeface="Calibri" pitchFamily="34" charset="0"/>
                <a:ea typeface="Calibri" pitchFamily="34" charset="-122"/>
                <a:cs typeface="Calibri" pitchFamily="34" charset="-120"/>
              </a:rPr>
              <a:t>• Gate function KB to reasoning-class queries only</a:t>
            </a:r>
            <a:endParaRPr lang="en-US" sz="1000" dirty="0"/>
          </a:p>
        </p:txBody>
      </p:sp>
      <p:sp>
        <p:nvSpPr>
          <p:cNvPr id="24" name="Text 22"/>
          <p:cNvSpPr/>
          <p:nvPr/>
        </p:nvSpPr>
        <p:spPr>
          <a:xfrm>
            <a:off x="3310128" y="2267712"/>
            <a:ext cx="2514600" cy="502920"/>
          </a:xfrm>
          <a:prstGeom prst="rect">
            <a:avLst/>
          </a:prstGeom>
          <a:noFill/>
          <a:ln/>
        </p:spPr>
        <p:txBody>
          <a:bodyPr wrap="square" lIns="0" tIns="0" rIns="0" bIns="0" rtlCol="0" anchor="ctr"/>
          <a:lstStyle/>
          <a:p>
            <a:pPr marL="0" indent="0">
              <a:buNone/>
            </a:pPr>
            <a:r>
              <a:rPr lang="en-US" sz="1000" dirty="0">
                <a:solidFill>
                  <a:srgbClr val="1C2833"/>
                </a:solidFill>
                <a:latin typeface="Calibri" pitchFamily="34" charset="0"/>
                <a:ea typeface="Calibri" pitchFamily="34" charset="-122"/>
                <a:cs typeface="Calibri" pitchFamily="34" charset="-120"/>
              </a:rPr>
              <a:t>• Cap session micro-hint at 20 words strictly</a:t>
            </a:r>
            <a:endParaRPr lang="en-US" sz="1000" dirty="0"/>
          </a:p>
        </p:txBody>
      </p:sp>
      <p:sp>
        <p:nvSpPr>
          <p:cNvPr id="25" name="Text 23"/>
          <p:cNvSpPr/>
          <p:nvPr/>
        </p:nvSpPr>
        <p:spPr>
          <a:xfrm>
            <a:off x="3310128" y="2816352"/>
            <a:ext cx="2514600" cy="502920"/>
          </a:xfrm>
          <a:prstGeom prst="rect">
            <a:avLst/>
          </a:prstGeom>
          <a:noFill/>
          <a:ln/>
        </p:spPr>
        <p:txBody>
          <a:bodyPr wrap="square" lIns="0" tIns="0" rIns="0" bIns="0" rtlCol="0" anchor="ctr"/>
          <a:lstStyle/>
          <a:p>
            <a:pPr marL="0" indent="0">
              <a:buNone/>
            </a:pPr>
            <a:r>
              <a:rPr lang="en-US" sz="1000" dirty="0">
                <a:solidFill>
                  <a:srgbClr val="1C2833"/>
                </a:solidFill>
                <a:latin typeface="Calibri" pitchFamily="34" charset="0"/>
                <a:ea typeface="Calibri" pitchFamily="34" charset="-122"/>
                <a:cs typeface="Calibri" pitchFamily="34" charset="-120"/>
              </a:rPr>
              <a:t>• Request 4 candidates instead of 5 (post-process handles backfill)</a:t>
            </a:r>
            <a:endParaRPr lang="en-US" sz="1000" dirty="0"/>
          </a:p>
        </p:txBody>
      </p:sp>
      <p:sp>
        <p:nvSpPr>
          <p:cNvPr id="26" name="Shape 24"/>
          <p:cNvSpPr/>
          <p:nvPr/>
        </p:nvSpPr>
        <p:spPr>
          <a:xfrm>
            <a:off x="3200400" y="4315968"/>
            <a:ext cx="2743200" cy="347472"/>
          </a:xfrm>
          <a:prstGeom prst="rect">
            <a:avLst/>
          </a:prstGeom>
          <a:solidFill>
            <a:srgbClr val="E67E22">
              <a:alpha val="20000"/>
            </a:srgbClr>
          </a:solidFill>
          <a:ln w="6350">
            <a:solidFill>
              <a:srgbClr val="E67E22"/>
            </a:solidFill>
            <a:prstDash val="solid"/>
          </a:ln>
        </p:spPr>
        <p:txBody>
          <a:bodyPr/>
          <a:lstStyle/>
          <a:p>
            <a:endParaRPr lang="en-IN"/>
          </a:p>
        </p:txBody>
      </p:sp>
      <p:sp>
        <p:nvSpPr>
          <p:cNvPr id="27" name="Text 25"/>
          <p:cNvSpPr/>
          <p:nvPr/>
        </p:nvSpPr>
        <p:spPr>
          <a:xfrm>
            <a:off x="3200400" y="4315968"/>
            <a:ext cx="2743200" cy="347472"/>
          </a:xfrm>
          <a:prstGeom prst="rect">
            <a:avLst/>
          </a:prstGeom>
          <a:noFill/>
          <a:ln/>
        </p:spPr>
        <p:txBody>
          <a:bodyPr wrap="square" lIns="0" tIns="0" rIns="0" bIns="0" rtlCol="0" anchor="ctr"/>
          <a:lstStyle/>
          <a:p>
            <a:pPr marL="0" indent="0" algn="ctr">
              <a:buNone/>
            </a:pPr>
            <a:r>
              <a:rPr lang="en-US" sz="1100" b="1" dirty="0">
                <a:solidFill>
                  <a:srgbClr val="E67E22"/>
                </a:solidFill>
                <a:latin typeface="Calibri" pitchFamily="34" charset="0"/>
                <a:ea typeface="Calibri" pitchFamily="34" charset="-122"/>
                <a:cs typeface="Calibri" pitchFamily="34" charset="-120"/>
              </a:rPr>
              <a:t>~70% token reduction</a:t>
            </a:r>
            <a:endParaRPr lang="en-US" sz="1100" dirty="0"/>
          </a:p>
        </p:txBody>
      </p:sp>
      <p:sp>
        <p:nvSpPr>
          <p:cNvPr id="28" name="Text 26"/>
          <p:cNvSpPr/>
          <p:nvPr/>
        </p:nvSpPr>
        <p:spPr>
          <a:xfrm>
            <a:off x="5961888" y="2468880"/>
            <a:ext cx="118872" cy="365760"/>
          </a:xfrm>
          <a:prstGeom prst="rect">
            <a:avLst/>
          </a:prstGeom>
          <a:noFill/>
          <a:ln/>
        </p:spPr>
        <p:txBody>
          <a:bodyPr wrap="square" lIns="0" tIns="0" rIns="0" bIns="0" rtlCol="0" anchor="ctr"/>
          <a:lstStyle/>
          <a:p>
            <a:pPr marL="0" indent="0" algn="ctr">
              <a:buNone/>
            </a:pPr>
            <a:r>
              <a:rPr lang="en-US" sz="1800" dirty="0">
                <a:solidFill>
                  <a:srgbClr val="95A5A6"/>
                </a:solidFill>
              </a:rPr>
              <a:t>→</a:t>
            </a:r>
            <a:endParaRPr lang="en-US" sz="1800" dirty="0"/>
          </a:p>
        </p:txBody>
      </p:sp>
      <p:sp>
        <p:nvSpPr>
          <p:cNvPr id="29" name="Shape 27"/>
          <p:cNvSpPr/>
          <p:nvPr/>
        </p:nvSpPr>
        <p:spPr>
          <a:xfrm>
            <a:off x="6080760" y="868680"/>
            <a:ext cx="2743200" cy="3840480"/>
          </a:xfrm>
          <a:prstGeom prst="rect">
            <a:avLst/>
          </a:prstGeom>
          <a:solidFill>
            <a:srgbClr val="FFFFFF"/>
          </a:solidFill>
          <a:ln w="10160">
            <a:solidFill>
              <a:srgbClr val="E2EAF4"/>
            </a:solidFill>
            <a:prstDash val="solid"/>
          </a:ln>
          <a:effectLst>
            <a:outerShdw blurRad="101600" dist="38100" dir="8100000" algn="bl" rotWithShape="0">
              <a:srgbClr val="000000">
                <a:alpha val="10000"/>
              </a:srgbClr>
            </a:outerShdw>
          </a:effectLst>
        </p:spPr>
        <p:txBody>
          <a:bodyPr/>
          <a:lstStyle/>
          <a:p>
            <a:endParaRPr lang="en-IN"/>
          </a:p>
        </p:txBody>
      </p:sp>
      <p:sp>
        <p:nvSpPr>
          <p:cNvPr id="30" name="Shape 28"/>
          <p:cNvSpPr/>
          <p:nvPr/>
        </p:nvSpPr>
        <p:spPr>
          <a:xfrm>
            <a:off x="6080760" y="868680"/>
            <a:ext cx="2743200" cy="502920"/>
          </a:xfrm>
          <a:prstGeom prst="rect">
            <a:avLst/>
          </a:prstGeom>
          <a:solidFill>
            <a:srgbClr val="8E44AD"/>
          </a:solidFill>
          <a:ln w="12700">
            <a:solidFill>
              <a:srgbClr val="8E44AD"/>
            </a:solidFill>
            <a:prstDash val="solid"/>
          </a:ln>
        </p:spPr>
        <p:txBody>
          <a:bodyPr/>
          <a:lstStyle/>
          <a:p>
            <a:endParaRPr lang="en-IN"/>
          </a:p>
        </p:txBody>
      </p:sp>
      <p:sp>
        <p:nvSpPr>
          <p:cNvPr id="31" name="Text 29"/>
          <p:cNvSpPr/>
          <p:nvPr/>
        </p:nvSpPr>
        <p:spPr>
          <a:xfrm>
            <a:off x="6080760" y="868680"/>
            <a:ext cx="10972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Phase 3</a:t>
            </a:r>
            <a:endParaRPr lang="en-US" sz="1300" dirty="0"/>
          </a:p>
        </p:txBody>
      </p:sp>
      <p:sp>
        <p:nvSpPr>
          <p:cNvPr id="32" name="Text 30"/>
          <p:cNvSpPr/>
          <p:nvPr/>
        </p:nvSpPr>
        <p:spPr>
          <a:xfrm>
            <a:off x="7178040" y="868680"/>
            <a:ext cx="1645920" cy="502920"/>
          </a:xfrm>
          <a:prstGeom prst="rect">
            <a:avLst/>
          </a:prstGeom>
          <a:noFill/>
          <a:ln/>
        </p:spPr>
        <p:txBody>
          <a:bodyPr wrap="square" lIns="76200" tIns="76200" rIns="76200" bIns="76200" rtlCol="0" anchor="ctr"/>
          <a:lstStyle/>
          <a:p>
            <a:pPr marL="0" indent="0" algn="r">
              <a:buNone/>
            </a:pPr>
            <a:r>
              <a:rPr lang="en-US" sz="1100" dirty="0">
                <a:solidFill>
                  <a:srgbClr val="FFFFFF"/>
                </a:solidFill>
                <a:latin typeface="Calibri" pitchFamily="34" charset="0"/>
                <a:ea typeface="Calibri" pitchFamily="34" charset="-122"/>
                <a:cs typeface="Calibri" pitchFamily="34" charset="-120"/>
              </a:rPr>
              <a:t>Week 3–4</a:t>
            </a:r>
            <a:endParaRPr lang="en-US" sz="1100" dirty="0"/>
          </a:p>
        </p:txBody>
      </p:sp>
      <p:sp>
        <p:nvSpPr>
          <p:cNvPr id="33" name="Text 31"/>
          <p:cNvSpPr/>
          <p:nvPr/>
        </p:nvSpPr>
        <p:spPr>
          <a:xfrm>
            <a:off x="6080760" y="1389888"/>
            <a:ext cx="2743200" cy="274320"/>
          </a:xfrm>
          <a:prstGeom prst="rect">
            <a:avLst/>
          </a:prstGeom>
          <a:noFill/>
          <a:ln/>
        </p:spPr>
        <p:txBody>
          <a:bodyPr wrap="square" lIns="0" tIns="0" rIns="0" bIns="0"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Advanced</a:t>
            </a:r>
            <a:endParaRPr lang="en-US" sz="1200" dirty="0"/>
          </a:p>
        </p:txBody>
      </p:sp>
      <p:sp>
        <p:nvSpPr>
          <p:cNvPr id="34" name="Text 32"/>
          <p:cNvSpPr/>
          <p:nvPr/>
        </p:nvSpPr>
        <p:spPr>
          <a:xfrm>
            <a:off x="6190488" y="1719072"/>
            <a:ext cx="2514600" cy="502920"/>
          </a:xfrm>
          <a:prstGeom prst="rect">
            <a:avLst/>
          </a:prstGeom>
          <a:noFill/>
          <a:ln/>
        </p:spPr>
        <p:txBody>
          <a:bodyPr wrap="square" lIns="0" tIns="0" rIns="0" bIns="0" rtlCol="0" anchor="ctr"/>
          <a:lstStyle/>
          <a:p>
            <a:pPr marL="0" indent="0">
              <a:buNone/>
            </a:pPr>
            <a:r>
              <a:rPr lang="en-US" sz="1000" dirty="0">
                <a:solidFill>
                  <a:srgbClr val="1C2833"/>
                </a:solidFill>
                <a:latin typeface="Calibri" pitchFamily="34" charset="0"/>
                <a:ea typeface="Calibri" pitchFamily="34" charset="-122"/>
                <a:cs typeface="Calibri" pitchFamily="34" charset="-120"/>
              </a:rPr>
              <a:t>• Cache static prompt prefix (template + dataset) server-side</a:t>
            </a:r>
            <a:endParaRPr lang="en-US" sz="1000" dirty="0"/>
          </a:p>
        </p:txBody>
      </p:sp>
      <p:sp>
        <p:nvSpPr>
          <p:cNvPr id="35" name="Text 33"/>
          <p:cNvSpPr/>
          <p:nvPr/>
        </p:nvSpPr>
        <p:spPr>
          <a:xfrm>
            <a:off x="6190488" y="2267712"/>
            <a:ext cx="2514600" cy="502920"/>
          </a:xfrm>
          <a:prstGeom prst="rect">
            <a:avLst/>
          </a:prstGeom>
          <a:noFill/>
          <a:ln/>
        </p:spPr>
        <p:txBody>
          <a:bodyPr wrap="square" lIns="0" tIns="0" rIns="0" bIns="0" rtlCol="0" anchor="ctr"/>
          <a:lstStyle/>
          <a:p>
            <a:pPr marL="0" indent="0">
              <a:buNone/>
            </a:pPr>
            <a:r>
              <a:rPr lang="en-US" sz="1000" dirty="0">
                <a:solidFill>
                  <a:srgbClr val="1C2833"/>
                </a:solidFill>
                <a:latin typeface="Calibri" pitchFamily="34" charset="0"/>
                <a:ea typeface="Calibri" pitchFamily="34" charset="-122"/>
                <a:cs typeface="Calibri" pitchFamily="34" charset="-120"/>
              </a:rPr>
              <a:t>• Model routing: cold start → no LLM, probabilistic → smaller model</a:t>
            </a:r>
            <a:endParaRPr lang="en-US" sz="1000" dirty="0"/>
          </a:p>
        </p:txBody>
      </p:sp>
      <p:sp>
        <p:nvSpPr>
          <p:cNvPr id="36" name="Text 34"/>
          <p:cNvSpPr/>
          <p:nvPr/>
        </p:nvSpPr>
        <p:spPr>
          <a:xfrm>
            <a:off x="6190488" y="2816352"/>
            <a:ext cx="2514600" cy="502920"/>
          </a:xfrm>
          <a:prstGeom prst="rect">
            <a:avLst/>
          </a:prstGeom>
          <a:noFill/>
          <a:ln/>
        </p:spPr>
        <p:txBody>
          <a:bodyPr wrap="square" lIns="0" tIns="0" rIns="0" bIns="0" rtlCol="0" anchor="ctr"/>
          <a:lstStyle/>
          <a:p>
            <a:pPr marL="0" indent="0">
              <a:buNone/>
            </a:pPr>
            <a:r>
              <a:rPr lang="en-US" sz="1000" dirty="0">
                <a:solidFill>
                  <a:srgbClr val="1C2833"/>
                </a:solidFill>
                <a:latin typeface="Calibri" pitchFamily="34" charset="0"/>
                <a:ea typeface="Calibri" pitchFamily="34" charset="-122"/>
                <a:cs typeface="Calibri" pitchFamily="34" charset="-120"/>
              </a:rPr>
              <a:t>• Structured JSON output schema to reduce formatting tokens</a:t>
            </a:r>
            <a:endParaRPr lang="en-US" sz="1000" dirty="0"/>
          </a:p>
        </p:txBody>
      </p:sp>
      <p:sp>
        <p:nvSpPr>
          <p:cNvPr id="37" name="Shape 35"/>
          <p:cNvSpPr/>
          <p:nvPr/>
        </p:nvSpPr>
        <p:spPr>
          <a:xfrm>
            <a:off x="6080760" y="4315968"/>
            <a:ext cx="2743200" cy="347472"/>
          </a:xfrm>
          <a:prstGeom prst="rect">
            <a:avLst/>
          </a:prstGeom>
          <a:solidFill>
            <a:srgbClr val="8E44AD">
              <a:alpha val="20000"/>
            </a:srgbClr>
          </a:solidFill>
          <a:ln w="6350">
            <a:solidFill>
              <a:srgbClr val="8E44AD"/>
            </a:solidFill>
            <a:prstDash val="solid"/>
          </a:ln>
        </p:spPr>
        <p:txBody>
          <a:bodyPr/>
          <a:lstStyle/>
          <a:p>
            <a:endParaRPr lang="en-IN"/>
          </a:p>
        </p:txBody>
      </p:sp>
      <p:sp>
        <p:nvSpPr>
          <p:cNvPr id="38" name="Text 36"/>
          <p:cNvSpPr/>
          <p:nvPr/>
        </p:nvSpPr>
        <p:spPr>
          <a:xfrm>
            <a:off x="6080760" y="4315968"/>
            <a:ext cx="2743200" cy="347472"/>
          </a:xfrm>
          <a:prstGeom prst="rect">
            <a:avLst/>
          </a:prstGeom>
          <a:noFill/>
          <a:ln/>
        </p:spPr>
        <p:txBody>
          <a:bodyPr wrap="square" lIns="0" tIns="0" rIns="0" bIns="0" rtlCol="0" anchor="ctr"/>
          <a:lstStyle/>
          <a:p>
            <a:pPr marL="0" indent="0" algn="ctr">
              <a:buNone/>
            </a:pPr>
            <a:r>
              <a:rPr lang="en-US" sz="1100" b="1" dirty="0">
                <a:solidFill>
                  <a:srgbClr val="8E44AD"/>
                </a:solidFill>
                <a:latin typeface="Calibri" pitchFamily="34" charset="0"/>
                <a:ea typeface="Calibri" pitchFamily="34" charset="-122"/>
                <a:cs typeface="Calibri" pitchFamily="34" charset="-120"/>
              </a:rPr>
              <a:t>~80% token reduction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txBody>
          <a:bodyPr/>
          <a:lstStyle/>
          <a:p>
            <a:endParaRPr lang="en-IN"/>
          </a:p>
        </p:txBody>
      </p:sp>
      <p:sp>
        <p:nvSpPr>
          <p:cNvPr id="3" name="Shape 1"/>
          <p:cNvSpPr/>
          <p:nvPr/>
        </p:nvSpPr>
        <p:spPr>
          <a:xfrm>
            <a:off x="0" y="685800"/>
            <a:ext cx="9144000" cy="54864"/>
          </a:xfrm>
          <a:prstGeom prst="rect">
            <a:avLst/>
          </a:prstGeom>
          <a:solidFill>
            <a:srgbClr val="27AE60"/>
          </a:solidFill>
          <a:ln w="12700">
            <a:solidFill>
              <a:srgbClr val="27AE60"/>
            </a:solidFill>
            <a:prstDash val="solid"/>
          </a:ln>
        </p:spPr>
        <p:txBody>
          <a:bodyPr/>
          <a:lstStyle/>
          <a:p>
            <a:endParaRPr lang="en-IN"/>
          </a:p>
        </p:txBody>
      </p:sp>
      <p:sp>
        <p:nvSpPr>
          <p:cNvPr id="4" name="Text 2"/>
          <p:cNvSpPr/>
          <p:nvPr/>
        </p:nvSpPr>
        <p:spPr>
          <a:xfrm>
            <a:off x="320040" y="0"/>
            <a:ext cx="73152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06  Expected Savings After Optimization</a:t>
            </a:r>
            <a:endParaRPr lang="en-US" sz="2400" dirty="0"/>
          </a:p>
        </p:txBody>
      </p:sp>
      <p:sp>
        <p:nvSpPr>
          <p:cNvPr id="5" name="Text 3"/>
          <p:cNvSpPr/>
          <p:nvPr/>
        </p:nvSpPr>
        <p:spPr>
          <a:xfrm>
            <a:off x="320040" y="0"/>
            <a:ext cx="8503920" cy="685800"/>
          </a:xfrm>
          <a:prstGeom prst="rect">
            <a:avLst/>
          </a:prstGeom>
          <a:noFill/>
          <a:ln/>
        </p:spPr>
        <p:txBody>
          <a:bodyPr wrap="square" lIns="0" tIns="0" rIns="0" bIns="0" rtlCol="0" anchor="ctr"/>
          <a:lstStyle/>
          <a:p>
            <a:pPr marL="0" indent="0" algn="r">
              <a:buNone/>
            </a:pPr>
            <a:r>
              <a:rPr lang="en-US" sz="1200" dirty="0">
                <a:solidFill>
                  <a:srgbClr val="27AE60"/>
                </a:solidFill>
                <a:latin typeface="Calibri" pitchFamily="34" charset="0"/>
                <a:ea typeface="Calibri" pitchFamily="34" charset="-122"/>
                <a:cs typeface="Calibri" pitchFamily="34" charset="-120"/>
              </a:rPr>
              <a:t>Token reduction breakdown by strategy</a:t>
            </a:r>
            <a:endParaRPr lang="en-US" sz="1200" dirty="0"/>
          </a:p>
        </p:txBody>
      </p:sp>
      <p:sp>
        <p:nvSpPr>
          <p:cNvPr id="6" name="Text 4"/>
          <p:cNvSpPr/>
          <p:nvPr/>
        </p:nvSpPr>
        <p:spPr>
          <a:xfrm>
            <a:off x="0" y="4892040"/>
            <a:ext cx="9144000" cy="246888"/>
          </a:xfrm>
          <a:prstGeom prst="rect">
            <a:avLst/>
          </a:prstGeom>
          <a:noFill/>
          <a:ln/>
        </p:spPr>
        <p:txBody>
          <a:bodyPr wrap="square" lIns="0" tIns="0" rIns="0" bIns="0" rtlCol="0" anchor="ctr"/>
          <a:lstStyle/>
          <a:p>
            <a:pPr marL="0" indent="0" algn="ctr">
              <a:buNone/>
            </a:pPr>
            <a:r>
              <a:rPr lang="en-US" sz="900" dirty="0" err="1">
                <a:solidFill>
                  <a:srgbClr val="95A5A6"/>
                </a:solidFill>
                <a:latin typeface="Calibri" pitchFamily="34" charset="0"/>
                <a:ea typeface="Calibri" pitchFamily="34" charset="-122"/>
                <a:cs typeface="Calibri" pitchFamily="34" charset="-120"/>
              </a:rPr>
              <a:t>NetoMate</a:t>
            </a:r>
            <a:r>
              <a:rPr lang="en-US" sz="900" dirty="0">
                <a:solidFill>
                  <a:srgbClr val="95A5A6"/>
                </a:solidFill>
                <a:latin typeface="Calibri" pitchFamily="34" charset="0"/>
                <a:ea typeface="Calibri" pitchFamily="34" charset="-122"/>
                <a:cs typeface="Calibri" pitchFamily="34" charset="-120"/>
              </a:rPr>
              <a:t>  |  Token Optimization</a:t>
            </a:r>
            <a:endParaRPr lang="en-US" sz="900" dirty="0"/>
          </a:p>
        </p:txBody>
      </p:sp>
      <p:sp>
        <p:nvSpPr>
          <p:cNvPr id="7" name="Text 5"/>
          <p:cNvSpPr/>
          <p:nvPr/>
        </p:nvSpPr>
        <p:spPr>
          <a:xfrm>
            <a:off x="320040" y="804672"/>
            <a:ext cx="5303520" cy="27432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Token reduction by optimization strategy</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20040" y="1115568"/>
          <a:ext cx="6035040" cy="2880360"/>
        </p:xfrm>
        <a:graphic>
          <a:graphicData uri="http://schemas.openxmlformats.org/drawingml/2006/table">
            <a:tbl>
              <a:tblPr/>
              <a:tblGrid>
                <a:gridCol w="182880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329184">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Strategy</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Current Tokens</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After Opt.</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Saving</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Applies To</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0"/>
                  </a:ext>
                </a:extLst>
              </a:tr>
              <a:tr h="329184">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Category-filtered flows</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~2,800</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~390–1,200</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~57–86%</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All non-hybrid</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329184">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Compact serialization</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~2,800</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~1,700</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~39%</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100% of queries</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329184">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KB gating (reasoning only)</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~700</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~0–700</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~100% sometimes</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~70% of queries</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329184">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Tighter prompt template</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~300</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~150</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~50%</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100% of queries</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329184">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Output format compression</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~300</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~180</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~40%</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100% of queries</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r h="329184">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Session hint cap</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~50+</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~70%</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Memory-on queries</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6"/>
                  </a:ext>
                </a:extLst>
              </a:tr>
              <a:tr h="329184">
                <a:tc>
                  <a:txBody>
                    <a:bodyPr/>
                    <a:lstStyle/>
                    <a:p>
                      <a:pPr marL="0" indent="0">
                        <a:buNone/>
                      </a:pPr>
                      <a:r>
                        <a:rPr lang="en-US" sz="1050" b="1" dirty="0">
                          <a:solidFill>
                            <a:srgbClr val="000000"/>
                          </a:solidFill>
                          <a:latin typeface="Calibri" pitchFamily="34" charset="0"/>
                          <a:ea typeface="Calibri" pitchFamily="34" charset="-122"/>
                          <a:cs typeface="Calibri" pitchFamily="34" charset="-120"/>
                        </a:rPr>
                        <a:t>COMBINED (Phase 1–2)</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050" b="1" dirty="0">
                          <a:solidFill>
                            <a:srgbClr val="000000"/>
                          </a:solidFill>
                          <a:latin typeface="Calibri" pitchFamily="34" charset="0"/>
                          <a:ea typeface="Calibri" pitchFamily="34" charset="-122"/>
                          <a:cs typeface="Calibri" pitchFamily="34" charset="-120"/>
                        </a:rPr>
                        <a:t>~4,300</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050" b="1" dirty="0">
                          <a:solidFill>
                            <a:srgbClr val="000000"/>
                          </a:solidFill>
                          <a:latin typeface="Calibri" pitchFamily="34" charset="0"/>
                          <a:ea typeface="Calibri" pitchFamily="34" charset="-122"/>
                          <a:cs typeface="Calibri" pitchFamily="34" charset="-120"/>
                        </a:rPr>
                        <a:t>~1,300–1,900</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050" b="1" dirty="0">
                          <a:solidFill>
                            <a:srgbClr val="000000"/>
                          </a:solidFill>
                          <a:latin typeface="Calibri" pitchFamily="34" charset="0"/>
                          <a:ea typeface="Calibri" pitchFamily="34" charset="-122"/>
                          <a:cs typeface="Calibri" pitchFamily="34" charset="-120"/>
                        </a:rPr>
                        <a:t>55–70%</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tc>
                  <a:txBody>
                    <a:bodyPr/>
                    <a:lstStyle/>
                    <a:p>
                      <a:pPr marL="0" indent="0">
                        <a:buNone/>
                      </a:pPr>
                      <a:r>
                        <a:rPr lang="en-US" sz="1050" b="1" dirty="0">
                          <a:solidFill>
                            <a:srgbClr val="000000"/>
                          </a:solidFill>
                          <a:latin typeface="Calibri" pitchFamily="34" charset="0"/>
                          <a:ea typeface="Calibri" pitchFamily="34" charset="-122"/>
                          <a:cs typeface="Calibri" pitchFamily="34" charset="-120"/>
                        </a:rPr>
                        <a:t>Average request</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8FAFC"/>
                    </a:solidFill>
                  </a:tcPr>
                </a:tc>
                <a:extLst>
                  <a:ext uri="{0D108BD9-81ED-4DB2-BD59-A6C34878D82A}">
                    <a16:rowId xmlns:a16="http://schemas.microsoft.com/office/drawing/2014/main" val="10007"/>
                  </a:ext>
                </a:extLst>
              </a:tr>
            </a:tbl>
          </a:graphicData>
        </a:graphic>
      </p:graphicFrame>
      <p:graphicFrame>
        <p:nvGraphicFramePr>
          <p:cNvPr id="9" name="Chart 0"/>
          <p:cNvGraphicFramePr/>
          <p:nvPr>
            <p:extLst>
              <p:ext uri="{D42A27DB-BD31-4B8C-83A1-F6EECF244321}">
                <p14:modId xmlns:p14="http://schemas.microsoft.com/office/powerpoint/2010/main" val="559697950"/>
              </p:ext>
            </p:extLst>
          </p:nvPr>
        </p:nvGraphicFramePr>
        <p:xfrm>
          <a:off x="6012180" y="868680"/>
          <a:ext cx="313182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6"/>
          <p:cNvSpPr/>
          <p:nvPr/>
        </p:nvSpPr>
        <p:spPr>
          <a:xfrm>
            <a:off x="320040" y="4133088"/>
            <a:ext cx="8503920" cy="658368"/>
          </a:xfrm>
          <a:prstGeom prst="rect">
            <a:avLst/>
          </a:prstGeom>
          <a:solidFill>
            <a:srgbClr val="E8F8F5"/>
          </a:solidFill>
          <a:ln w="10160">
            <a:solidFill>
              <a:srgbClr val="27AE60"/>
            </a:solidFill>
            <a:prstDash val="solid"/>
          </a:ln>
        </p:spPr>
        <p:txBody>
          <a:bodyPr/>
          <a:lstStyle/>
          <a:p>
            <a:endParaRPr lang="en-IN"/>
          </a:p>
        </p:txBody>
      </p:sp>
      <p:sp>
        <p:nvSpPr>
          <p:cNvPr id="11" name="Text 7"/>
          <p:cNvSpPr/>
          <p:nvPr/>
        </p:nvSpPr>
        <p:spPr>
          <a:xfrm>
            <a:off x="457200" y="4178808"/>
            <a:ext cx="8229600" cy="566928"/>
          </a:xfrm>
          <a:prstGeom prst="rect">
            <a:avLst/>
          </a:prstGeom>
          <a:noFill/>
          <a:ln/>
        </p:spPr>
        <p:txBody>
          <a:bodyPr wrap="square" lIns="0" tIns="0" rIns="0" bIns="0" rtlCol="0" anchor="ctr"/>
          <a:lstStyle/>
          <a:p>
            <a:pPr marL="0" indent="0">
              <a:buNone/>
            </a:pPr>
            <a:r>
              <a:rPr lang="en-US" sz="1100" b="1" dirty="0">
                <a:solidFill>
                  <a:srgbClr val="0E6655"/>
                </a:solidFill>
                <a:latin typeface="Calibri" pitchFamily="34" charset="0"/>
                <a:ea typeface="Calibri" pitchFamily="34" charset="-122"/>
                <a:cs typeface="Calibri" pitchFamily="34" charset="-120"/>
              </a:rPr>
              <a:t>Quality note: </a:t>
            </a:r>
            <a:r>
              <a:rPr lang="en-US" sz="1050" dirty="0">
                <a:solidFill>
                  <a:srgbClr val="1C2833"/>
                </a:solidFill>
                <a:latin typeface="Calibri" pitchFamily="34" charset="0"/>
                <a:ea typeface="Calibri" pitchFamily="34" charset="-122"/>
                <a:cs typeface="Calibri" pitchFamily="34" charset="-120"/>
              </a:rPr>
              <a:t>Category-filtered injection does NOT reduce accuracy — the LLM only ever needed the relevant category's flows. Compact serialization preserves all semantic information. KB gating is safe because probabilistic queries don't require semantic descriptions. Accuracy is maintained or improved.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txBody>
          <a:bodyPr/>
          <a:lstStyle/>
          <a:p>
            <a:endParaRPr lang="en-IN"/>
          </a:p>
        </p:txBody>
      </p:sp>
      <p:sp>
        <p:nvSpPr>
          <p:cNvPr id="3" name="Shape 1"/>
          <p:cNvSpPr/>
          <p:nvPr/>
        </p:nvSpPr>
        <p:spPr>
          <a:xfrm>
            <a:off x="0" y="685800"/>
            <a:ext cx="9144000" cy="54864"/>
          </a:xfrm>
          <a:prstGeom prst="rect">
            <a:avLst/>
          </a:prstGeom>
          <a:solidFill>
            <a:srgbClr val="8E44AD"/>
          </a:solidFill>
          <a:ln w="12700">
            <a:solidFill>
              <a:srgbClr val="8E44AD"/>
            </a:solidFill>
            <a:prstDash val="solid"/>
          </a:ln>
        </p:spPr>
        <p:txBody>
          <a:bodyPr/>
          <a:lstStyle/>
          <a:p>
            <a:endParaRPr lang="en-IN"/>
          </a:p>
        </p:txBody>
      </p:sp>
      <p:sp>
        <p:nvSpPr>
          <p:cNvPr id="4" name="Text 2"/>
          <p:cNvSpPr/>
          <p:nvPr/>
        </p:nvSpPr>
        <p:spPr>
          <a:xfrm>
            <a:off x="320040" y="0"/>
            <a:ext cx="731520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07  Recommended Next Steps</a:t>
            </a:r>
            <a:endParaRPr lang="en-US" sz="2400" dirty="0"/>
          </a:p>
        </p:txBody>
      </p:sp>
      <p:sp>
        <p:nvSpPr>
          <p:cNvPr id="5" name="Text 3"/>
          <p:cNvSpPr/>
          <p:nvPr/>
        </p:nvSpPr>
        <p:spPr>
          <a:xfrm>
            <a:off x="320040" y="0"/>
            <a:ext cx="8503920" cy="685800"/>
          </a:xfrm>
          <a:prstGeom prst="rect">
            <a:avLst/>
          </a:prstGeom>
          <a:noFill/>
          <a:ln/>
        </p:spPr>
        <p:txBody>
          <a:bodyPr wrap="square" lIns="0" tIns="0" rIns="0" bIns="0" rtlCol="0" anchor="ctr"/>
          <a:lstStyle/>
          <a:p>
            <a:pPr marL="0" indent="0" algn="r">
              <a:buNone/>
            </a:pPr>
            <a:endParaRPr lang="en-US" sz="1200" dirty="0"/>
          </a:p>
        </p:txBody>
      </p:sp>
      <p:sp>
        <p:nvSpPr>
          <p:cNvPr id="6" name="Text 4"/>
          <p:cNvSpPr/>
          <p:nvPr/>
        </p:nvSpPr>
        <p:spPr>
          <a:xfrm>
            <a:off x="0" y="4892040"/>
            <a:ext cx="9144000" cy="246888"/>
          </a:xfrm>
          <a:prstGeom prst="rect">
            <a:avLst/>
          </a:prstGeom>
          <a:noFill/>
          <a:ln/>
        </p:spPr>
        <p:txBody>
          <a:bodyPr wrap="square" lIns="0" tIns="0" rIns="0" bIns="0" rtlCol="0" anchor="ctr"/>
          <a:lstStyle/>
          <a:p>
            <a:pPr marL="0" indent="0" algn="ctr">
              <a:buNone/>
            </a:pPr>
            <a:r>
              <a:rPr lang="en-US" sz="900" dirty="0" err="1">
                <a:solidFill>
                  <a:srgbClr val="95A5A6"/>
                </a:solidFill>
                <a:latin typeface="Calibri" pitchFamily="34" charset="0"/>
                <a:ea typeface="Calibri" pitchFamily="34" charset="-122"/>
                <a:cs typeface="Calibri" pitchFamily="34" charset="-120"/>
              </a:rPr>
              <a:t>NetoMate</a:t>
            </a:r>
            <a:r>
              <a:rPr lang="en-US" sz="900" dirty="0">
                <a:solidFill>
                  <a:srgbClr val="95A5A6"/>
                </a:solidFill>
                <a:latin typeface="Calibri" pitchFamily="34" charset="0"/>
                <a:ea typeface="Calibri" pitchFamily="34" charset="-122"/>
                <a:cs typeface="Calibri" pitchFamily="34" charset="-120"/>
              </a:rPr>
              <a:t>  |  Token Optimization</a:t>
            </a:r>
            <a:endParaRPr lang="en-US" sz="900" dirty="0"/>
          </a:p>
        </p:txBody>
      </p:sp>
      <p:sp>
        <p:nvSpPr>
          <p:cNvPr id="7" name="Shape 5"/>
          <p:cNvSpPr/>
          <p:nvPr/>
        </p:nvSpPr>
        <p:spPr>
          <a:xfrm>
            <a:off x="320040" y="868680"/>
            <a:ext cx="8503920" cy="694944"/>
          </a:xfrm>
          <a:prstGeom prst="rect">
            <a:avLst/>
          </a:prstGeom>
          <a:solidFill>
            <a:srgbClr val="FFFFFF"/>
          </a:solidFill>
          <a:ln w="7620">
            <a:solidFill>
              <a:srgbClr val="E2EAF4"/>
            </a:solidFill>
            <a:prstDash val="solid"/>
          </a:ln>
          <a:effectLst>
            <a:outerShdw blurRad="101600" dist="38100" dir="8100000" algn="bl" rotWithShape="0">
              <a:srgbClr val="000000">
                <a:alpha val="10000"/>
              </a:srgbClr>
            </a:outerShdw>
          </a:effectLst>
        </p:spPr>
        <p:txBody>
          <a:bodyPr/>
          <a:lstStyle/>
          <a:p>
            <a:endParaRPr lang="en-IN"/>
          </a:p>
        </p:txBody>
      </p:sp>
      <p:sp>
        <p:nvSpPr>
          <p:cNvPr id="8" name="Shape 6"/>
          <p:cNvSpPr/>
          <p:nvPr/>
        </p:nvSpPr>
        <p:spPr>
          <a:xfrm>
            <a:off x="320040" y="868680"/>
            <a:ext cx="438912" cy="694944"/>
          </a:xfrm>
          <a:prstGeom prst="rect">
            <a:avLst/>
          </a:prstGeom>
          <a:solidFill>
            <a:srgbClr val="E74C3C"/>
          </a:solidFill>
          <a:ln w="12700">
            <a:solidFill>
              <a:srgbClr val="E74C3C"/>
            </a:solidFill>
            <a:prstDash val="solid"/>
          </a:ln>
        </p:spPr>
        <p:txBody>
          <a:bodyPr/>
          <a:lstStyle/>
          <a:p>
            <a:endParaRPr lang="en-IN"/>
          </a:p>
        </p:txBody>
      </p:sp>
      <p:sp>
        <p:nvSpPr>
          <p:cNvPr id="9" name="Text 7"/>
          <p:cNvSpPr/>
          <p:nvPr/>
        </p:nvSpPr>
        <p:spPr>
          <a:xfrm>
            <a:off x="320040" y="868680"/>
            <a:ext cx="438912" cy="69494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Shape 8"/>
          <p:cNvSpPr/>
          <p:nvPr/>
        </p:nvSpPr>
        <p:spPr>
          <a:xfrm>
            <a:off x="804672" y="905256"/>
            <a:ext cx="640080" cy="237744"/>
          </a:xfrm>
          <a:prstGeom prst="rect">
            <a:avLst/>
          </a:prstGeom>
          <a:solidFill>
            <a:srgbClr val="E74C3C">
              <a:alpha val="20000"/>
            </a:srgbClr>
          </a:solidFill>
          <a:ln w="6350">
            <a:solidFill>
              <a:srgbClr val="E74C3C"/>
            </a:solidFill>
            <a:prstDash val="solid"/>
          </a:ln>
        </p:spPr>
        <p:txBody>
          <a:bodyPr/>
          <a:lstStyle/>
          <a:p>
            <a:endParaRPr lang="en-IN"/>
          </a:p>
        </p:txBody>
      </p:sp>
      <p:sp>
        <p:nvSpPr>
          <p:cNvPr id="11" name="Text 9"/>
          <p:cNvSpPr/>
          <p:nvPr/>
        </p:nvSpPr>
        <p:spPr>
          <a:xfrm>
            <a:off x="804672" y="905256"/>
            <a:ext cx="640080" cy="237744"/>
          </a:xfrm>
          <a:prstGeom prst="rect">
            <a:avLst/>
          </a:prstGeom>
          <a:noFill/>
          <a:ln/>
        </p:spPr>
        <p:txBody>
          <a:bodyPr wrap="square" lIns="0" tIns="0" rIns="0" bIns="0" rtlCol="0" anchor="ctr"/>
          <a:lstStyle/>
          <a:p>
            <a:pPr marL="0" indent="0" algn="ctr">
              <a:buNone/>
            </a:pPr>
            <a:r>
              <a:rPr lang="en-US" sz="850" b="1" dirty="0">
                <a:solidFill>
                  <a:srgbClr val="E74C3C"/>
                </a:solidFill>
                <a:latin typeface="Calibri" pitchFamily="34" charset="0"/>
                <a:ea typeface="Calibri" pitchFamily="34" charset="-122"/>
                <a:cs typeface="Calibri" pitchFamily="34" charset="-120"/>
              </a:rPr>
              <a:t>HIGH</a:t>
            </a:r>
            <a:endParaRPr lang="en-US" sz="850" dirty="0"/>
          </a:p>
        </p:txBody>
      </p:sp>
      <p:sp>
        <p:nvSpPr>
          <p:cNvPr id="12" name="Text 10"/>
          <p:cNvSpPr/>
          <p:nvPr/>
        </p:nvSpPr>
        <p:spPr>
          <a:xfrm>
            <a:off x="1508760" y="905256"/>
            <a:ext cx="5029200" cy="27432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Implement category-filtered flow injection</a:t>
            </a:r>
            <a:endParaRPr lang="en-US" sz="1200" dirty="0"/>
          </a:p>
        </p:txBody>
      </p:sp>
      <p:sp>
        <p:nvSpPr>
          <p:cNvPr id="13" name="Text 11"/>
          <p:cNvSpPr/>
          <p:nvPr/>
        </p:nvSpPr>
        <p:spPr>
          <a:xfrm>
            <a:off x="1508760" y="1197864"/>
            <a:ext cx="5029200" cy="329184"/>
          </a:xfrm>
          <a:prstGeom prst="rect">
            <a:avLst/>
          </a:prstGeom>
          <a:noFill/>
          <a:ln/>
        </p:spPr>
        <p:txBody>
          <a:bodyPr wrap="square" lIns="0" tIns="0" rIns="0" bIns="0" rtlCol="0" anchor="ctr"/>
          <a:lstStyle/>
          <a:p>
            <a:pPr marL="0" indent="0">
              <a:buNone/>
            </a:pPr>
            <a:r>
              <a:rPr lang="en-US" sz="950" dirty="0">
                <a:solidFill>
                  <a:srgbClr val="1C2833"/>
                </a:solidFill>
                <a:latin typeface="Calibri" pitchFamily="34" charset="0"/>
                <a:ea typeface="Calibri" pitchFamily="34" charset="-122"/>
                <a:cs typeface="Calibri" pitchFamily="34" charset="-120"/>
              </a:rPr>
              <a:t>Filter 50-flow dataset to category-matching subset before prompt build. Store flows in dict keyed by category for O(1) lookup.</a:t>
            </a:r>
            <a:endParaRPr lang="en-US" sz="950" dirty="0"/>
          </a:p>
        </p:txBody>
      </p:sp>
      <p:sp>
        <p:nvSpPr>
          <p:cNvPr id="14" name="Text 12"/>
          <p:cNvSpPr/>
          <p:nvPr/>
        </p:nvSpPr>
        <p:spPr>
          <a:xfrm>
            <a:off x="6629400" y="923544"/>
            <a:ext cx="2103120" cy="237744"/>
          </a:xfrm>
          <a:prstGeom prst="rect">
            <a:avLst/>
          </a:prstGeom>
          <a:noFill/>
          <a:ln/>
        </p:spPr>
        <p:txBody>
          <a:bodyPr wrap="square" lIns="0" tIns="0" rIns="0" bIns="0" rtlCol="0" anchor="ctr"/>
          <a:lstStyle/>
          <a:p>
            <a:pPr marL="0" indent="0" algn="r">
              <a:buNone/>
            </a:pPr>
            <a:r>
              <a:rPr lang="en-US" sz="950" dirty="0">
                <a:solidFill>
                  <a:srgbClr val="95A5A6"/>
                </a:solidFill>
                <a:latin typeface="Calibri" pitchFamily="34" charset="0"/>
                <a:ea typeface="Calibri" pitchFamily="34" charset="-122"/>
                <a:cs typeface="Calibri" pitchFamily="34" charset="-120"/>
              </a:rPr>
              <a:t>Effort: 2–3 hrs</a:t>
            </a:r>
            <a:endParaRPr lang="en-US" sz="950" dirty="0"/>
          </a:p>
        </p:txBody>
      </p:sp>
      <p:sp>
        <p:nvSpPr>
          <p:cNvPr id="15" name="Text 13"/>
          <p:cNvSpPr/>
          <p:nvPr/>
        </p:nvSpPr>
        <p:spPr>
          <a:xfrm>
            <a:off x="6629400" y="1197864"/>
            <a:ext cx="2103120" cy="237744"/>
          </a:xfrm>
          <a:prstGeom prst="rect">
            <a:avLst/>
          </a:prstGeom>
          <a:noFill/>
          <a:ln/>
        </p:spPr>
        <p:txBody>
          <a:bodyPr wrap="square" lIns="0" tIns="0" rIns="0" bIns="0" rtlCol="0" anchor="ctr"/>
          <a:lstStyle/>
          <a:p>
            <a:pPr marL="0" indent="0" algn="r">
              <a:buNone/>
            </a:pPr>
            <a:r>
              <a:rPr lang="en-US" sz="950" b="1" dirty="0">
                <a:solidFill>
                  <a:srgbClr val="E74C3C"/>
                </a:solidFill>
                <a:latin typeface="Calibri" pitchFamily="34" charset="0"/>
                <a:ea typeface="Calibri" pitchFamily="34" charset="-122"/>
                <a:cs typeface="Calibri" pitchFamily="34" charset="-120"/>
              </a:rPr>
              <a:t>Impact: ~55% reduction immediately</a:t>
            </a:r>
            <a:endParaRPr lang="en-US" sz="950" dirty="0"/>
          </a:p>
        </p:txBody>
      </p:sp>
      <p:sp>
        <p:nvSpPr>
          <p:cNvPr id="16" name="Shape 14"/>
          <p:cNvSpPr/>
          <p:nvPr/>
        </p:nvSpPr>
        <p:spPr>
          <a:xfrm>
            <a:off x="320040" y="1636776"/>
            <a:ext cx="8503920" cy="694944"/>
          </a:xfrm>
          <a:prstGeom prst="rect">
            <a:avLst/>
          </a:prstGeom>
          <a:solidFill>
            <a:srgbClr val="FFFFFF"/>
          </a:solidFill>
          <a:ln w="7620">
            <a:solidFill>
              <a:srgbClr val="E2EAF4"/>
            </a:solidFill>
            <a:prstDash val="solid"/>
          </a:ln>
          <a:effectLst>
            <a:outerShdw blurRad="101600" dist="38100" dir="8100000" algn="bl" rotWithShape="0">
              <a:srgbClr val="000000">
                <a:alpha val="10000"/>
              </a:srgbClr>
            </a:outerShdw>
          </a:effectLst>
        </p:spPr>
        <p:txBody>
          <a:bodyPr/>
          <a:lstStyle/>
          <a:p>
            <a:endParaRPr lang="en-IN"/>
          </a:p>
        </p:txBody>
      </p:sp>
      <p:sp>
        <p:nvSpPr>
          <p:cNvPr id="17" name="Shape 15"/>
          <p:cNvSpPr/>
          <p:nvPr/>
        </p:nvSpPr>
        <p:spPr>
          <a:xfrm>
            <a:off x="320040" y="1636776"/>
            <a:ext cx="438912" cy="694944"/>
          </a:xfrm>
          <a:prstGeom prst="rect">
            <a:avLst/>
          </a:prstGeom>
          <a:solidFill>
            <a:srgbClr val="E67E22"/>
          </a:solidFill>
          <a:ln w="12700">
            <a:solidFill>
              <a:srgbClr val="E67E22"/>
            </a:solidFill>
            <a:prstDash val="solid"/>
          </a:ln>
        </p:spPr>
        <p:txBody>
          <a:bodyPr/>
          <a:lstStyle/>
          <a:p>
            <a:endParaRPr lang="en-IN"/>
          </a:p>
        </p:txBody>
      </p:sp>
      <p:sp>
        <p:nvSpPr>
          <p:cNvPr id="18" name="Text 16"/>
          <p:cNvSpPr/>
          <p:nvPr/>
        </p:nvSpPr>
        <p:spPr>
          <a:xfrm>
            <a:off x="320040" y="1636776"/>
            <a:ext cx="438912" cy="69494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9" name="Shape 17"/>
          <p:cNvSpPr/>
          <p:nvPr/>
        </p:nvSpPr>
        <p:spPr>
          <a:xfrm>
            <a:off x="804672" y="1673352"/>
            <a:ext cx="640080" cy="237744"/>
          </a:xfrm>
          <a:prstGeom prst="rect">
            <a:avLst/>
          </a:prstGeom>
          <a:solidFill>
            <a:srgbClr val="E74C3C">
              <a:alpha val="20000"/>
            </a:srgbClr>
          </a:solidFill>
          <a:ln w="6350">
            <a:solidFill>
              <a:srgbClr val="E74C3C"/>
            </a:solidFill>
            <a:prstDash val="solid"/>
          </a:ln>
        </p:spPr>
        <p:txBody>
          <a:bodyPr/>
          <a:lstStyle/>
          <a:p>
            <a:endParaRPr lang="en-IN"/>
          </a:p>
        </p:txBody>
      </p:sp>
      <p:sp>
        <p:nvSpPr>
          <p:cNvPr id="20" name="Text 18"/>
          <p:cNvSpPr/>
          <p:nvPr/>
        </p:nvSpPr>
        <p:spPr>
          <a:xfrm>
            <a:off x="804672" y="1673352"/>
            <a:ext cx="640080" cy="237744"/>
          </a:xfrm>
          <a:prstGeom prst="rect">
            <a:avLst/>
          </a:prstGeom>
          <a:noFill/>
          <a:ln/>
        </p:spPr>
        <p:txBody>
          <a:bodyPr wrap="square" lIns="0" tIns="0" rIns="0" bIns="0" rtlCol="0" anchor="ctr"/>
          <a:lstStyle/>
          <a:p>
            <a:pPr marL="0" indent="0" algn="ctr">
              <a:buNone/>
            </a:pPr>
            <a:r>
              <a:rPr lang="en-US" sz="850" b="1" dirty="0">
                <a:solidFill>
                  <a:srgbClr val="E74C3C"/>
                </a:solidFill>
                <a:latin typeface="Calibri" pitchFamily="34" charset="0"/>
                <a:ea typeface="Calibri" pitchFamily="34" charset="-122"/>
                <a:cs typeface="Calibri" pitchFamily="34" charset="-120"/>
              </a:rPr>
              <a:t>HIGH</a:t>
            </a:r>
            <a:endParaRPr lang="en-US" sz="850" dirty="0"/>
          </a:p>
        </p:txBody>
      </p:sp>
      <p:sp>
        <p:nvSpPr>
          <p:cNvPr id="21" name="Text 19"/>
          <p:cNvSpPr/>
          <p:nvPr/>
        </p:nvSpPr>
        <p:spPr>
          <a:xfrm>
            <a:off x="1508760" y="1673352"/>
            <a:ext cx="5029200" cy="27432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Compact prefix serialization</a:t>
            </a:r>
            <a:endParaRPr lang="en-US" sz="1200" dirty="0"/>
          </a:p>
        </p:txBody>
      </p:sp>
      <p:sp>
        <p:nvSpPr>
          <p:cNvPr id="22" name="Text 20"/>
          <p:cNvSpPr/>
          <p:nvPr/>
        </p:nvSpPr>
        <p:spPr>
          <a:xfrm>
            <a:off x="1508760" y="1965960"/>
            <a:ext cx="5029200" cy="329184"/>
          </a:xfrm>
          <a:prstGeom prst="rect">
            <a:avLst/>
          </a:prstGeom>
          <a:noFill/>
          <a:ln/>
        </p:spPr>
        <p:txBody>
          <a:bodyPr wrap="square" lIns="0" tIns="0" rIns="0" bIns="0" rtlCol="0" anchor="ctr"/>
          <a:lstStyle/>
          <a:p>
            <a:pPr marL="0" indent="0">
              <a:buNone/>
            </a:pPr>
            <a:r>
              <a:rPr lang="en-US" sz="950" dirty="0">
                <a:solidFill>
                  <a:srgbClr val="1C2833"/>
                </a:solidFill>
                <a:latin typeface="Calibri" pitchFamily="34" charset="0"/>
                <a:ea typeface="Calibri" pitchFamily="34" charset="-122"/>
                <a:cs typeface="Calibri" pitchFamily="34" charset="-120"/>
              </a:rPr>
              <a:t>Replace epcems_ → ems:, mo_mt_ → mo:, packet_capture_ → pc: in flow injection. Keep full names in output format instruction.</a:t>
            </a:r>
            <a:endParaRPr lang="en-US" sz="950" dirty="0"/>
          </a:p>
        </p:txBody>
      </p:sp>
      <p:sp>
        <p:nvSpPr>
          <p:cNvPr id="23" name="Text 21"/>
          <p:cNvSpPr/>
          <p:nvPr/>
        </p:nvSpPr>
        <p:spPr>
          <a:xfrm>
            <a:off x="6629400" y="1691640"/>
            <a:ext cx="2103120" cy="237744"/>
          </a:xfrm>
          <a:prstGeom prst="rect">
            <a:avLst/>
          </a:prstGeom>
          <a:noFill/>
          <a:ln/>
        </p:spPr>
        <p:txBody>
          <a:bodyPr wrap="square" lIns="0" tIns="0" rIns="0" bIns="0" rtlCol="0" anchor="ctr"/>
          <a:lstStyle/>
          <a:p>
            <a:pPr marL="0" indent="0" algn="r">
              <a:buNone/>
            </a:pPr>
            <a:r>
              <a:rPr lang="en-US" sz="950" dirty="0">
                <a:solidFill>
                  <a:srgbClr val="95A5A6"/>
                </a:solidFill>
                <a:latin typeface="Calibri" pitchFamily="34" charset="0"/>
                <a:ea typeface="Calibri" pitchFamily="34" charset="-122"/>
                <a:cs typeface="Calibri" pitchFamily="34" charset="-120"/>
              </a:rPr>
              <a:t>Effort: 1–2 hrs</a:t>
            </a:r>
            <a:endParaRPr lang="en-US" sz="950" dirty="0"/>
          </a:p>
        </p:txBody>
      </p:sp>
      <p:sp>
        <p:nvSpPr>
          <p:cNvPr id="24" name="Text 22"/>
          <p:cNvSpPr/>
          <p:nvPr/>
        </p:nvSpPr>
        <p:spPr>
          <a:xfrm>
            <a:off x="6629400" y="1965960"/>
            <a:ext cx="2103120" cy="237744"/>
          </a:xfrm>
          <a:prstGeom prst="rect">
            <a:avLst/>
          </a:prstGeom>
          <a:noFill/>
          <a:ln/>
        </p:spPr>
        <p:txBody>
          <a:bodyPr wrap="square" lIns="0" tIns="0" rIns="0" bIns="0" rtlCol="0" anchor="ctr"/>
          <a:lstStyle/>
          <a:p>
            <a:pPr marL="0" indent="0" algn="r">
              <a:buNone/>
            </a:pPr>
            <a:r>
              <a:rPr lang="en-US" sz="950" b="1" dirty="0">
                <a:solidFill>
                  <a:srgbClr val="E67E22"/>
                </a:solidFill>
                <a:latin typeface="Calibri" pitchFamily="34" charset="0"/>
                <a:ea typeface="Calibri" pitchFamily="34" charset="-122"/>
                <a:cs typeface="Calibri" pitchFamily="34" charset="-120"/>
              </a:rPr>
              <a:t>Impact: ~39% on flow tokens</a:t>
            </a:r>
            <a:endParaRPr lang="en-US" sz="950" dirty="0"/>
          </a:p>
        </p:txBody>
      </p:sp>
      <p:sp>
        <p:nvSpPr>
          <p:cNvPr id="25" name="Shape 23"/>
          <p:cNvSpPr/>
          <p:nvPr/>
        </p:nvSpPr>
        <p:spPr>
          <a:xfrm>
            <a:off x="320040" y="2404872"/>
            <a:ext cx="8503920" cy="694944"/>
          </a:xfrm>
          <a:prstGeom prst="rect">
            <a:avLst/>
          </a:prstGeom>
          <a:solidFill>
            <a:srgbClr val="FFFFFF"/>
          </a:solidFill>
          <a:ln w="7620">
            <a:solidFill>
              <a:srgbClr val="E2EAF4"/>
            </a:solidFill>
            <a:prstDash val="solid"/>
          </a:ln>
          <a:effectLst>
            <a:outerShdw blurRad="101600" dist="38100" dir="8100000" algn="bl" rotWithShape="0">
              <a:srgbClr val="000000">
                <a:alpha val="10000"/>
              </a:srgbClr>
            </a:outerShdw>
          </a:effectLst>
        </p:spPr>
        <p:txBody>
          <a:bodyPr/>
          <a:lstStyle/>
          <a:p>
            <a:endParaRPr lang="en-IN"/>
          </a:p>
        </p:txBody>
      </p:sp>
      <p:sp>
        <p:nvSpPr>
          <p:cNvPr id="26" name="Shape 24"/>
          <p:cNvSpPr/>
          <p:nvPr/>
        </p:nvSpPr>
        <p:spPr>
          <a:xfrm>
            <a:off x="320040" y="2404872"/>
            <a:ext cx="438912" cy="694944"/>
          </a:xfrm>
          <a:prstGeom prst="rect">
            <a:avLst/>
          </a:prstGeom>
          <a:solidFill>
            <a:srgbClr val="1B4F72"/>
          </a:solidFill>
          <a:ln w="12700">
            <a:solidFill>
              <a:srgbClr val="1B4F72"/>
            </a:solidFill>
            <a:prstDash val="solid"/>
          </a:ln>
        </p:spPr>
        <p:txBody>
          <a:bodyPr/>
          <a:lstStyle/>
          <a:p>
            <a:endParaRPr lang="en-IN"/>
          </a:p>
        </p:txBody>
      </p:sp>
      <p:sp>
        <p:nvSpPr>
          <p:cNvPr id="27" name="Text 25"/>
          <p:cNvSpPr/>
          <p:nvPr/>
        </p:nvSpPr>
        <p:spPr>
          <a:xfrm>
            <a:off x="320040" y="2404872"/>
            <a:ext cx="438912" cy="69494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8" name="Shape 26"/>
          <p:cNvSpPr/>
          <p:nvPr/>
        </p:nvSpPr>
        <p:spPr>
          <a:xfrm>
            <a:off x="804672" y="2441448"/>
            <a:ext cx="640080" cy="237744"/>
          </a:xfrm>
          <a:prstGeom prst="rect">
            <a:avLst/>
          </a:prstGeom>
          <a:solidFill>
            <a:srgbClr val="E67E22">
              <a:alpha val="20000"/>
            </a:srgbClr>
          </a:solidFill>
          <a:ln w="6350">
            <a:solidFill>
              <a:srgbClr val="E67E22"/>
            </a:solidFill>
            <a:prstDash val="solid"/>
          </a:ln>
        </p:spPr>
        <p:txBody>
          <a:bodyPr/>
          <a:lstStyle/>
          <a:p>
            <a:endParaRPr lang="en-IN"/>
          </a:p>
        </p:txBody>
      </p:sp>
      <p:sp>
        <p:nvSpPr>
          <p:cNvPr id="29" name="Text 27"/>
          <p:cNvSpPr/>
          <p:nvPr/>
        </p:nvSpPr>
        <p:spPr>
          <a:xfrm>
            <a:off x="804672" y="2441448"/>
            <a:ext cx="640080" cy="237744"/>
          </a:xfrm>
          <a:prstGeom prst="rect">
            <a:avLst/>
          </a:prstGeom>
          <a:noFill/>
          <a:ln/>
        </p:spPr>
        <p:txBody>
          <a:bodyPr wrap="square" lIns="0" tIns="0" rIns="0" bIns="0" rtlCol="0" anchor="ctr"/>
          <a:lstStyle/>
          <a:p>
            <a:pPr marL="0" indent="0" algn="ctr">
              <a:buNone/>
            </a:pPr>
            <a:r>
              <a:rPr lang="en-US" sz="850" b="1" dirty="0">
                <a:solidFill>
                  <a:srgbClr val="E67E22"/>
                </a:solidFill>
                <a:latin typeface="Calibri" pitchFamily="34" charset="0"/>
                <a:ea typeface="Calibri" pitchFamily="34" charset="-122"/>
                <a:cs typeface="Calibri" pitchFamily="34" charset="-120"/>
              </a:rPr>
              <a:t>MED</a:t>
            </a:r>
            <a:endParaRPr lang="en-US" sz="850" dirty="0"/>
          </a:p>
        </p:txBody>
      </p:sp>
      <p:sp>
        <p:nvSpPr>
          <p:cNvPr id="30" name="Text 28"/>
          <p:cNvSpPr/>
          <p:nvPr/>
        </p:nvSpPr>
        <p:spPr>
          <a:xfrm>
            <a:off x="1508760" y="2441448"/>
            <a:ext cx="5029200" cy="27432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Gate KB injection to reasoning queries</a:t>
            </a:r>
            <a:endParaRPr lang="en-US" sz="1200" dirty="0"/>
          </a:p>
        </p:txBody>
      </p:sp>
      <p:sp>
        <p:nvSpPr>
          <p:cNvPr id="31" name="Text 29"/>
          <p:cNvSpPr/>
          <p:nvPr/>
        </p:nvSpPr>
        <p:spPr>
          <a:xfrm>
            <a:off x="1508760" y="2734056"/>
            <a:ext cx="5029200" cy="329184"/>
          </a:xfrm>
          <a:prstGeom prst="rect">
            <a:avLst/>
          </a:prstGeom>
          <a:noFill/>
          <a:ln/>
        </p:spPr>
        <p:txBody>
          <a:bodyPr wrap="square" lIns="0" tIns="0" rIns="0" bIns="0" rtlCol="0" anchor="ctr"/>
          <a:lstStyle/>
          <a:p>
            <a:pPr marL="0" indent="0">
              <a:buNone/>
            </a:pPr>
            <a:r>
              <a:rPr lang="en-US" sz="950" dirty="0">
                <a:solidFill>
                  <a:srgbClr val="1C2833"/>
                </a:solidFill>
                <a:latin typeface="Calibri" pitchFamily="34" charset="0"/>
                <a:ea typeface="Calibri" pitchFamily="34" charset="-122"/>
                <a:cs typeface="Calibri" pitchFamily="34" charset="-120"/>
              </a:rPr>
              <a:t>Add condition in build_prompt() — inject function_kb.json only when intent == REASONING. Skip for PROBABILISTIC and COLD_START.</a:t>
            </a:r>
            <a:endParaRPr lang="en-US" sz="950" dirty="0"/>
          </a:p>
        </p:txBody>
      </p:sp>
      <p:sp>
        <p:nvSpPr>
          <p:cNvPr id="32" name="Text 30"/>
          <p:cNvSpPr/>
          <p:nvPr/>
        </p:nvSpPr>
        <p:spPr>
          <a:xfrm>
            <a:off x="6629400" y="2459736"/>
            <a:ext cx="2103120" cy="237744"/>
          </a:xfrm>
          <a:prstGeom prst="rect">
            <a:avLst/>
          </a:prstGeom>
          <a:noFill/>
          <a:ln/>
        </p:spPr>
        <p:txBody>
          <a:bodyPr wrap="square" lIns="0" tIns="0" rIns="0" bIns="0" rtlCol="0" anchor="ctr"/>
          <a:lstStyle/>
          <a:p>
            <a:pPr marL="0" indent="0" algn="r">
              <a:buNone/>
            </a:pPr>
            <a:r>
              <a:rPr lang="en-US" sz="950" dirty="0">
                <a:solidFill>
                  <a:srgbClr val="95A5A6"/>
                </a:solidFill>
                <a:latin typeface="Calibri" pitchFamily="34" charset="0"/>
                <a:ea typeface="Calibri" pitchFamily="34" charset="-122"/>
                <a:cs typeface="Calibri" pitchFamily="34" charset="-120"/>
              </a:rPr>
              <a:t>Effort: 1 hr</a:t>
            </a:r>
            <a:endParaRPr lang="en-US" sz="950" dirty="0"/>
          </a:p>
        </p:txBody>
      </p:sp>
      <p:sp>
        <p:nvSpPr>
          <p:cNvPr id="33" name="Text 31"/>
          <p:cNvSpPr/>
          <p:nvPr/>
        </p:nvSpPr>
        <p:spPr>
          <a:xfrm>
            <a:off x="6629400" y="2734056"/>
            <a:ext cx="2103120" cy="237744"/>
          </a:xfrm>
          <a:prstGeom prst="rect">
            <a:avLst/>
          </a:prstGeom>
          <a:noFill/>
          <a:ln/>
        </p:spPr>
        <p:txBody>
          <a:bodyPr wrap="square" lIns="0" tIns="0" rIns="0" bIns="0" rtlCol="0" anchor="ctr"/>
          <a:lstStyle/>
          <a:p>
            <a:pPr marL="0" indent="0" algn="r">
              <a:buNone/>
            </a:pPr>
            <a:r>
              <a:rPr lang="en-US" sz="950" b="1" dirty="0">
                <a:solidFill>
                  <a:srgbClr val="1B4F72"/>
                </a:solidFill>
                <a:latin typeface="Calibri" pitchFamily="34" charset="0"/>
                <a:ea typeface="Calibri" pitchFamily="34" charset="-122"/>
                <a:cs typeface="Calibri" pitchFamily="34" charset="-120"/>
              </a:rPr>
              <a:t>Impact: ~700 tokens saved on 70% of queries</a:t>
            </a:r>
            <a:endParaRPr lang="en-US" sz="950" dirty="0"/>
          </a:p>
        </p:txBody>
      </p:sp>
      <p:sp>
        <p:nvSpPr>
          <p:cNvPr id="34" name="Shape 32"/>
          <p:cNvSpPr/>
          <p:nvPr/>
        </p:nvSpPr>
        <p:spPr>
          <a:xfrm>
            <a:off x="320040" y="3172968"/>
            <a:ext cx="8503920" cy="694944"/>
          </a:xfrm>
          <a:prstGeom prst="rect">
            <a:avLst/>
          </a:prstGeom>
          <a:solidFill>
            <a:srgbClr val="FFFFFF"/>
          </a:solidFill>
          <a:ln w="7620">
            <a:solidFill>
              <a:srgbClr val="E2EAF4"/>
            </a:solidFill>
            <a:prstDash val="solid"/>
          </a:ln>
          <a:effectLst>
            <a:outerShdw blurRad="101600" dist="38100" dir="8100000" algn="bl" rotWithShape="0">
              <a:srgbClr val="000000">
                <a:alpha val="10000"/>
              </a:srgbClr>
            </a:outerShdw>
          </a:effectLst>
        </p:spPr>
        <p:txBody>
          <a:bodyPr/>
          <a:lstStyle/>
          <a:p>
            <a:endParaRPr lang="en-IN"/>
          </a:p>
        </p:txBody>
      </p:sp>
      <p:sp>
        <p:nvSpPr>
          <p:cNvPr id="35" name="Shape 33"/>
          <p:cNvSpPr/>
          <p:nvPr/>
        </p:nvSpPr>
        <p:spPr>
          <a:xfrm>
            <a:off x="320040" y="3172968"/>
            <a:ext cx="438912" cy="694944"/>
          </a:xfrm>
          <a:prstGeom prst="rect">
            <a:avLst/>
          </a:prstGeom>
          <a:solidFill>
            <a:srgbClr val="8E44AD"/>
          </a:solidFill>
          <a:ln w="12700">
            <a:solidFill>
              <a:srgbClr val="8E44AD"/>
            </a:solidFill>
            <a:prstDash val="solid"/>
          </a:ln>
        </p:spPr>
        <p:txBody>
          <a:bodyPr/>
          <a:lstStyle/>
          <a:p>
            <a:endParaRPr lang="en-IN"/>
          </a:p>
        </p:txBody>
      </p:sp>
      <p:sp>
        <p:nvSpPr>
          <p:cNvPr id="36" name="Text 34"/>
          <p:cNvSpPr/>
          <p:nvPr/>
        </p:nvSpPr>
        <p:spPr>
          <a:xfrm>
            <a:off x="320040" y="3172968"/>
            <a:ext cx="438912" cy="69494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7" name="Shape 35"/>
          <p:cNvSpPr/>
          <p:nvPr/>
        </p:nvSpPr>
        <p:spPr>
          <a:xfrm>
            <a:off x="804672" y="3209544"/>
            <a:ext cx="640080" cy="237744"/>
          </a:xfrm>
          <a:prstGeom prst="rect">
            <a:avLst/>
          </a:prstGeom>
          <a:solidFill>
            <a:srgbClr val="E67E22">
              <a:alpha val="20000"/>
            </a:srgbClr>
          </a:solidFill>
          <a:ln w="6350">
            <a:solidFill>
              <a:srgbClr val="E67E22"/>
            </a:solidFill>
            <a:prstDash val="solid"/>
          </a:ln>
        </p:spPr>
        <p:txBody>
          <a:bodyPr/>
          <a:lstStyle/>
          <a:p>
            <a:endParaRPr lang="en-IN"/>
          </a:p>
        </p:txBody>
      </p:sp>
      <p:sp>
        <p:nvSpPr>
          <p:cNvPr id="38" name="Text 36"/>
          <p:cNvSpPr/>
          <p:nvPr/>
        </p:nvSpPr>
        <p:spPr>
          <a:xfrm>
            <a:off x="804672" y="3209544"/>
            <a:ext cx="640080" cy="237744"/>
          </a:xfrm>
          <a:prstGeom prst="rect">
            <a:avLst/>
          </a:prstGeom>
          <a:noFill/>
          <a:ln/>
        </p:spPr>
        <p:txBody>
          <a:bodyPr wrap="square" lIns="0" tIns="0" rIns="0" bIns="0" rtlCol="0" anchor="ctr"/>
          <a:lstStyle/>
          <a:p>
            <a:pPr marL="0" indent="0" algn="ctr">
              <a:buNone/>
            </a:pPr>
            <a:r>
              <a:rPr lang="en-US" sz="850" b="1" dirty="0">
                <a:solidFill>
                  <a:srgbClr val="E67E22"/>
                </a:solidFill>
                <a:latin typeface="Calibri" pitchFamily="34" charset="0"/>
                <a:ea typeface="Calibri" pitchFamily="34" charset="-122"/>
                <a:cs typeface="Calibri" pitchFamily="34" charset="-120"/>
              </a:rPr>
              <a:t>MED</a:t>
            </a:r>
            <a:endParaRPr lang="en-US" sz="850" dirty="0"/>
          </a:p>
        </p:txBody>
      </p:sp>
      <p:sp>
        <p:nvSpPr>
          <p:cNvPr id="39" name="Text 37"/>
          <p:cNvSpPr/>
          <p:nvPr/>
        </p:nvSpPr>
        <p:spPr>
          <a:xfrm>
            <a:off x="1508760" y="3209544"/>
            <a:ext cx="5029200" cy="27432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Tighten prompt template</a:t>
            </a:r>
            <a:endParaRPr lang="en-US" sz="1200" dirty="0"/>
          </a:p>
        </p:txBody>
      </p:sp>
      <p:sp>
        <p:nvSpPr>
          <p:cNvPr id="40" name="Text 38"/>
          <p:cNvSpPr/>
          <p:nvPr/>
        </p:nvSpPr>
        <p:spPr>
          <a:xfrm>
            <a:off x="1508760" y="3502152"/>
            <a:ext cx="5029200" cy="329184"/>
          </a:xfrm>
          <a:prstGeom prst="rect">
            <a:avLst/>
          </a:prstGeom>
          <a:noFill/>
          <a:ln/>
        </p:spPr>
        <p:txBody>
          <a:bodyPr wrap="square" lIns="0" tIns="0" rIns="0" bIns="0" rtlCol="0" anchor="ctr"/>
          <a:lstStyle/>
          <a:p>
            <a:pPr marL="0" indent="0">
              <a:buNone/>
            </a:pPr>
            <a:r>
              <a:rPr lang="en-US" sz="950" dirty="0">
                <a:solidFill>
                  <a:srgbClr val="1C2833"/>
                </a:solidFill>
                <a:latin typeface="Calibri" pitchFamily="34" charset="0"/>
                <a:ea typeface="Calibri" pitchFamily="34" charset="-122"/>
                <a:cs typeface="Calibri" pitchFamily="34" charset="-120"/>
              </a:rPr>
              <a:t>Reduce rules section from paragraph format to terse single-line constraints. Target &lt;150 tokens for entire template block.</a:t>
            </a:r>
            <a:endParaRPr lang="en-US" sz="950" dirty="0"/>
          </a:p>
        </p:txBody>
      </p:sp>
      <p:sp>
        <p:nvSpPr>
          <p:cNvPr id="41" name="Text 39"/>
          <p:cNvSpPr/>
          <p:nvPr/>
        </p:nvSpPr>
        <p:spPr>
          <a:xfrm>
            <a:off x="6629400" y="3227832"/>
            <a:ext cx="2103120" cy="237744"/>
          </a:xfrm>
          <a:prstGeom prst="rect">
            <a:avLst/>
          </a:prstGeom>
          <a:noFill/>
          <a:ln/>
        </p:spPr>
        <p:txBody>
          <a:bodyPr wrap="square" lIns="0" tIns="0" rIns="0" bIns="0" rtlCol="0" anchor="ctr"/>
          <a:lstStyle/>
          <a:p>
            <a:pPr marL="0" indent="0" algn="r">
              <a:buNone/>
            </a:pPr>
            <a:r>
              <a:rPr lang="en-US" sz="950" dirty="0">
                <a:solidFill>
                  <a:srgbClr val="95A5A6"/>
                </a:solidFill>
                <a:latin typeface="Calibri" pitchFamily="34" charset="0"/>
                <a:ea typeface="Calibri" pitchFamily="34" charset="-122"/>
                <a:cs typeface="Calibri" pitchFamily="34" charset="-120"/>
              </a:rPr>
              <a:t>Effort: 1 hr</a:t>
            </a:r>
            <a:endParaRPr lang="en-US" sz="950" dirty="0"/>
          </a:p>
        </p:txBody>
      </p:sp>
      <p:sp>
        <p:nvSpPr>
          <p:cNvPr id="42" name="Text 40"/>
          <p:cNvSpPr/>
          <p:nvPr/>
        </p:nvSpPr>
        <p:spPr>
          <a:xfrm>
            <a:off x="6629400" y="3502152"/>
            <a:ext cx="2103120" cy="237744"/>
          </a:xfrm>
          <a:prstGeom prst="rect">
            <a:avLst/>
          </a:prstGeom>
          <a:noFill/>
          <a:ln/>
        </p:spPr>
        <p:txBody>
          <a:bodyPr wrap="square" lIns="0" tIns="0" rIns="0" bIns="0" rtlCol="0" anchor="ctr"/>
          <a:lstStyle/>
          <a:p>
            <a:pPr marL="0" indent="0" algn="r">
              <a:buNone/>
            </a:pPr>
            <a:r>
              <a:rPr lang="en-US" sz="950" b="1" dirty="0">
                <a:solidFill>
                  <a:srgbClr val="8E44AD"/>
                </a:solidFill>
                <a:latin typeface="Calibri" pitchFamily="34" charset="0"/>
                <a:ea typeface="Calibri" pitchFamily="34" charset="-122"/>
                <a:cs typeface="Calibri" pitchFamily="34" charset="-120"/>
              </a:rPr>
              <a:t>Impact: ~150 tokens saved per request</a:t>
            </a:r>
            <a:endParaRPr lang="en-US" sz="950" dirty="0"/>
          </a:p>
        </p:txBody>
      </p:sp>
      <p:sp>
        <p:nvSpPr>
          <p:cNvPr id="43" name="Shape 41"/>
          <p:cNvSpPr/>
          <p:nvPr/>
        </p:nvSpPr>
        <p:spPr>
          <a:xfrm>
            <a:off x="320040" y="3941064"/>
            <a:ext cx="8503920" cy="694944"/>
          </a:xfrm>
          <a:prstGeom prst="rect">
            <a:avLst/>
          </a:prstGeom>
          <a:solidFill>
            <a:srgbClr val="FFFFFF"/>
          </a:solidFill>
          <a:ln w="7620">
            <a:solidFill>
              <a:srgbClr val="E2EAF4"/>
            </a:solidFill>
            <a:prstDash val="solid"/>
          </a:ln>
          <a:effectLst>
            <a:outerShdw blurRad="101600" dist="38100" dir="8100000" algn="bl" rotWithShape="0">
              <a:srgbClr val="000000">
                <a:alpha val="10000"/>
              </a:srgbClr>
            </a:outerShdw>
          </a:effectLst>
        </p:spPr>
        <p:txBody>
          <a:bodyPr/>
          <a:lstStyle/>
          <a:p>
            <a:endParaRPr lang="en-IN"/>
          </a:p>
        </p:txBody>
      </p:sp>
      <p:sp>
        <p:nvSpPr>
          <p:cNvPr id="44" name="Shape 42"/>
          <p:cNvSpPr/>
          <p:nvPr/>
        </p:nvSpPr>
        <p:spPr>
          <a:xfrm>
            <a:off x="320040" y="3941064"/>
            <a:ext cx="438912" cy="694944"/>
          </a:xfrm>
          <a:prstGeom prst="rect">
            <a:avLst/>
          </a:prstGeom>
          <a:solidFill>
            <a:srgbClr val="0E6655"/>
          </a:solidFill>
          <a:ln w="12700">
            <a:solidFill>
              <a:srgbClr val="0E6655"/>
            </a:solidFill>
            <a:prstDash val="solid"/>
          </a:ln>
        </p:spPr>
        <p:txBody>
          <a:bodyPr/>
          <a:lstStyle/>
          <a:p>
            <a:endParaRPr lang="en-IN"/>
          </a:p>
        </p:txBody>
      </p:sp>
      <p:sp>
        <p:nvSpPr>
          <p:cNvPr id="45" name="Text 43"/>
          <p:cNvSpPr/>
          <p:nvPr/>
        </p:nvSpPr>
        <p:spPr>
          <a:xfrm>
            <a:off x="320040" y="3941064"/>
            <a:ext cx="438912" cy="69494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Shape 44"/>
          <p:cNvSpPr/>
          <p:nvPr/>
        </p:nvSpPr>
        <p:spPr>
          <a:xfrm>
            <a:off x="804672" y="3977640"/>
            <a:ext cx="640080" cy="237744"/>
          </a:xfrm>
          <a:prstGeom prst="rect">
            <a:avLst/>
          </a:prstGeom>
          <a:solidFill>
            <a:srgbClr val="27AE60">
              <a:alpha val="20000"/>
            </a:srgbClr>
          </a:solidFill>
          <a:ln w="6350">
            <a:solidFill>
              <a:srgbClr val="27AE60"/>
            </a:solidFill>
            <a:prstDash val="solid"/>
          </a:ln>
        </p:spPr>
        <p:txBody>
          <a:bodyPr/>
          <a:lstStyle/>
          <a:p>
            <a:endParaRPr lang="en-IN"/>
          </a:p>
        </p:txBody>
      </p:sp>
      <p:sp>
        <p:nvSpPr>
          <p:cNvPr id="47" name="Text 45"/>
          <p:cNvSpPr/>
          <p:nvPr/>
        </p:nvSpPr>
        <p:spPr>
          <a:xfrm>
            <a:off x="804672" y="3977640"/>
            <a:ext cx="640080" cy="237744"/>
          </a:xfrm>
          <a:prstGeom prst="rect">
            <a:avLst/>
          </a:prstGeom>
          <a:noFill/>
          <a:ln/>
        </p:spPr>
        <p:txBody>
          <a:bodyPr wrap="square" lIns="0" tIns="0" rIns="0" bIns="0" rtlCol="0" anchor="ctr"/>
          <a:lstStyle/>
          <a:p>
            <a:pPr marL="0" indent="0" algn="ctr">
              <a:buNone/>
            </a:pPr>
            <a:r>
              <a:rPr lang="en-US" sz="850" b="1" dirty="0">
                <a:solidFill>
                  <a:srgbClr val="27AE60"/>
                </a:solidFill>
                <a:latin typeface="Calibri" pitchFamily="34" charset="0"/>
                <a:ea typeface="Calibri" pitchFamily="34" charset="-122"/>
                <a:cs typeface="Calibri" pitchFamily="34" charset="-120"/>
              </a:rPr>
              <a:t>LOW</a:t>
            </a:r>
            <a:endParaRPr lang="en-US" sz="850" dirty="0"/>
          </a:p>
        </p:txBody>
      </p:sp>
      <p:sp>
        <p:nvSpPr>
          <p:cNvPr id="48" name="Text 46"/>
          <p:cNvSpPr/>
          <p:nvPr/>
        </p:nvSpPr>
        <p:spPr>
          <a:xfrm>
            <a:off x="1508760" y="3977640"/>
            <a:ext cx="5029200" cy="27432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Output format compression</a:t>
            </a:r>
            <a:endParaRPr lang="en-US" sz="1200" dirty="0"/>
          </a:p>
        </p:txBody>
      </p:sp>
      <p:sp>
        <p:nvSpPr>
          <p:cNvPr id="49" name="Text 47"/>
          <p:cNvSpPr/>
          <p:nvPr/>
        </p:nvSpPr>
        <p:spPr>
          <a:xfrm>
            <a:off x="1508760" y="4270248"/>
            <a:ext cx="5029200" cy="329184"/>
          </a:xfrm>
          <a:prstGeom prst="rect">
            <a:avLst/>
          </a:prstGeom>
          <a:noFill/>
          <a:ln/>
        </p:spPr>
        <p:txBody>
          <a:bodyPr wrap="square" lIns="0" tIns="0" rIns="0" bIns="0" rtlCol="0" anchor="ctr"/>
          <a:lstStyle/>
          <a:p>
            <a:pPr marL="0" indent="0">
              <a:buNone/>
            </a:pPr>
            <a:r>
              <a:rPr lang="en-US" sz="950" dirty="0">
                <a:solidFill>
                  <a:srgbClr val="1C2833"/>
                </a:solidFill>
                <a:latin typeface="Calibri" pitchFamily="34" charset="0"/>
                <a:ea typeface="Calibri" pitchFamily="34" charset="-122"/>
                <a:cs typeface="Calibri" pitchFamily="34" charset="-120"/>
              </a:rPr>
              <a:t>Change from 5-candidate to 4-candidate output. Use shorter field names in JSON schema (fn, conf, why vs function, confidence, explanation).</a:t>
            </a:r>
            <a:endParaRPr lang="en-US" sz="950" dirty="0"/>
          </a:p>
        </p:txBody>
      </p:sp>
      <p:sp>
        <p:nvSpPr>
          <p:cNvPr id="50" name="Text 48"/>
          <p:cNvSpPr/>
          <p:nvPr/>
        </p:nvSpPr>
        <p:spPr>
          <a:xfrm>
            <a:off x="6629400" y="3995928"/>
            <a:ext cx="2103120" cy="237744"/>
          </a:xfrm>
          <a:prstGeom prst="rect">
            <a:avLst/>
          </a:prstGeom>
          <a:noFill/>
          <a:ln/>
        </p:spPr>
        <p:txBody>
          <a:bodyPr wrap="square" lIns="0" tIns="0" rIns="0" bIns="0" rtlCol="0" anchor="ctr"/>
          <a:lstStyle/>
          <a:p>
            <a:pPr marL="0" indent="0" algn="r">
              <a:buNone/>
            </a:pPr>
            <a:r>
              <a:rPr lang="en-US" sz="950" dirty="0">
                <a:solidFill>
                  <a:srgbClr val="95A5A6"/>
                </a:solidFill>
                <a:latin typeface="Calibri" pitchFamily="34" charset="0"/>
                <a:ea typeface="Calibri" pitchFamily="34" charset="-122"/>
                <a:cs typeface="Calibri" pitchFamily="34" charset="-120"/>
              </a:rPr>
              <a:t>Effort: 1 hr</a:t>
            </a:r>
            <a:endParaRPr lang="en-US" sz="950" dirty="0"/>
          </a:p>
        </p:txBody>
      </p:sp>
      <p:sp>
        <p:nvSpPr>
          <p:cNvPr id="51" name="Text 49"/>
          <p:cNvSpPr/>
          <p:nvPr/>
        </p:nvSpPr>
        <p:spPr>
          <a:xfrm>
            <a:off x="6629400" y="4270248"/>
            <a:ext cx="2103120" cy="237744"/>
          </a:xfrm>
          <a:prstGeom prst="rect">
            <a:avLst/>
          </a:prstGeom>
          <a:noFill/>
          <a:ln/>
        </p:spPr>
        <p:txBody>
          <a:bodyPr wrap="square" lIns="0" tIns="0" rIns="0" bIns="0" rtlCol="0" anchor="ctr"/>
          <a:lstStyle/>
          <a:p>
            <a:pPr marL="0" indent="0" algn="r">
              <a:buNone/>
            </a:pPr>
            <a:r>
              <a:rPr lang="en-US" sz="950" b="1" dirty="0">
                <a:solidFill>
                  <a:srgbClr val="0E6655"/>
                </a:solidFill>
                <a:latin typeface="Calibri" pitchFamily="34" charset="0"/>
                <a:ea typeface="Calibri" pitchFamily="34" charset="-122"/>
                <a:cs typeface="Calibri" pitchFamily="34" charset="-120"/>
              </a:rPr>
              <a:t>Impact: ~80 output tokens saved</a:t>
            </a:r>
            <a:endParaRPr lang="en-US" sz="950" dirty="0"/>
          </a:p>
        </p:txBody>
      </p:sp>
      <p:sp>
        <p:nvSpPr>
          <p:cNvPr id="52" name="Text 50"/>
          <p:cNvSpPr/>
          <p:nvPr/>
        </p:nvSpPr>
        <p:spPr>
          <a:xfrm>
            <a:off x="320040" y="4736592"/>
            <a:ext cx="8503920" cy="274320"/>
          </a:xfrm>
          <a:prstGeom prst="rect">
            <a:avLst/>
          </a:prstGeom>
          <a:noFill/>
          <a:ln/>
        </p:spPr>
        <p:txBody>
          <a:bodyPr wrap="square" lIns="0" tIns="0" rIns="0" bIns="0" rtlCol="0" anchor="ctr"/>
          <a:lstStyle/>
          <a:p>
            <a:pPr marL="0" indent="0" algn="ctr">
              <a:buNone/>
            </a:pPr>
            <a:r>
              <a:rPr lang="en-US" sz="1050" b="1" dirty="0">
                <a:solidFill>
                  <a:srgbClr val="0D1B2A"/>
                </a:solidFill>
                <a:latin typeface="Calibri" pitchFamily="34" charset="0"/>
                <a:ea typeface="Calibri" pitchFamily="34" charset="-122"/>
                <a:cs typeface="Calibri" pitchFamily="34" charset="-120"/>
              </a:rPr>
              <a:t>Estimated total combined effort: 6–8 hours  |  Expected combined token reduction: 60–75%</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1277</Words>
  <Application>Microsoft Office PowerPoint</Application>
  <PresentationFormat>On-screen Show (16:9)</PresentationFormat>
  <Paragraphs>296</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NetoMate Flow AI — Token Optimization Strategy</dc:title>
  <dc:subject>PptxGenJS Presentation</dc:subject>
  <dc:creator>Kartikay Upmanyu</dc:creator>
  <cp:lastModifiedBy>Kartikay Upmanyu</cp:lastModifiedBy>
  <cp:revision>3</cp:revision>
  <dcterms:created xsi:type="dcterms:W3CDTF">2026-04-21T06:13:42Z</dcterms:created>
  <dcterms:modified xsi:type="dcterms:W3CDTF">2026-04-22T06:42:26Z</dcterms:modified>
</cp:coreProperties>
</file>